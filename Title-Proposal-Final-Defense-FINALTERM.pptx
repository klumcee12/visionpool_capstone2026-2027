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7" r:id="rId2"/>
    <p:sldId id="258" r:id="rId3"/>
    <p:sldId id="259" r:id="rId4"/>
    <p:sldId id="260" r:id="rId5"/>
    <p:sldId id="261" r:id="rId6"/>
    <p:sldId id="263" r:id="rId7"/>
    <p:sldId id="264" r:id="rId8"/>
    <p:sldId id="265" r:id="rId9"/>
    <p:sldId id="266" r:id="rId10"/>
  </p:sldIdLst>
  <p:sldSz cx="9144000" cy="6858000" type="screen4x3"/>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2957">
          <p15:clr>
            <a:srgbClr val="A4A3A4"/>
          </p15:clr>
        </p15:guide>
        <p15:guide id="4" pos="22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3"/>
    <a:srgbClr val="00153E"/>
    <a:srgbClr val="001746"/>
    <a:srgbClr val="E6E6E6"/>
    <a:srgbClr val="E11919"/>
    <a:srgbClr val="BB1515"/>
    <a:srgbClr val="9A1212"/>
    <a:srgbClr val="680C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3" autoAdjust="0"/>
    <p:restoredTop sz="78662" autoAdjust="0"/>
  </p:normalViewPr>
  <p:slideViewPr>
    <p:cSldViewPr>
      <p:cViewPr varScale="1">
        <p:scale>
          <a:sx n="44" d="100"/>
          <a:sy n="44" d="100"/>
        </p:scale>
        <p:origin x="1627" y="48"/>
      </p:cViewPr>
      <p:guideLst>
        <p:guide orient="horz" pos="2160"/>
        <p:guide pos="2880"/>
      </p:guideLst>
    </p:cSldViewPr>
  </p:slideViewPr>
  <p:notesTextViewPr>
    <p:cViewPr>
      <p:scale>
        <a:sx n="100" d="100"/>
        <a:sy n="100" d="100"/>
      </p:scale>
      <p:origin x="0" y="0"/>
    </p:cViewPr>
  </p:notesTextViewPr>
  <p:notesViewPr>
    <p:cSldViewPr>
      <p:cViewPr varScale="1">
        <p:scale>
          <a:sx n="57" d="100"/>
          <a:sy n="57" d="100"/>
        </p:scale>
        <p:origin x="-2862" y="-84"/>
      </p:cViewPr>
      <p:guideLst>
        <p:guide orient="horz" pos="2880"/>
        <p:guide pos="2160"/>
        <p:guide orient="horz" pos="2957"/>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00"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1048701" name="Date Placeholder 2"/>
          <p:cNvSpPr>
            <a:spLocks noGrp="1"/>
          </p:cNvSpPr>
          <p:nvPr>
            <p:ph type="dt" sz="quarter" idx="1"/>
          </p:nvPr>
        </p:nvSpPr>
        <p:spPr>
          <a:xfrm>
            <a:off x="4023092" y="0"/>
            <a:ext cx="3077739" cy="469424"/>
          </a:xfrm>
          <a:prstGeom prst="rect">
            <a:avLst/>
          </a:prstGeom>
        </p:spPr>
        <p:txBody>
          <a:bodyPr vert="horz" lIns="94229" tIns="47114" rIns="94229" bIns="47114" rtlCol="0"/>
          <a:lstStyle>
            <a:lvl1pPr algn="r">
              <a:defRPr sz="1200"/>
            </a:lvl1pPr>
          </a:lstStyle>
          <a:p>
            <a:fld id="{632D2AFE-5C15-436C-A40A-48093E48932C}" type="datetimeFigureOut">
              <a:rPr lang="en-US" smtClean="0"/>
              <a:t>7/9/2026</a:t>
            </a:fld>
            <a:endParaRPr lang="en-US"/>
          </a:p>
        </p:txBody>
      </p:sp>
      <p:sp>
        <p:nvSpPr>
          <p:cNvPr id="1048702" name="Footer Placeholder 3"/>
          <p:cNvSpPr>
            <a:spLocks noGrp="1"/>
          </p:cNvSpPr>
          <p:nvPr>
            <p:ph type="ftr" sz="quarter" idx="2"/>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1048703" name="Slide Number Placeholder 4"/>
          <p:cNvSpPr>
            <a:spLocks noGrp="1"/>
          </p:cNvSpPr>
          <p:nvPr>
            <p:ph type="sldNum" sz="quarter" idx="3"/>
          </p:nvPr>
        </p:nvSpPr>
        <p:spPr>
          <a:xfrm>
            <a:off x="4023092" y="8917422"/>
            <a:ext cx="3077739" cy="469424"/>
          </a:xfrm>
          <a:prstGeom prst="rect">
            <a:avLst/>
          </a:prstGeom>
        </p:spPr>
        <p:txBody>
          <a:bodyPr vert="horz" lIns="94229" tIns="47114" rIns="94229" bIns="47114" rtlCol="0" anchor="b"/>
          <a:lstStyle>
            <a:lvl1pPr algn="r">
              <a:defRPr sz="1200"/>
            </a:lvl1pPr>
          </a:lstStyle>
          <a:p>
            <a:fld id="{B37EEC9D-D0FA-4D11-AF25-23D79C15D12D}"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94"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1048695" name="Date Placeholder 2"/>
          <p:cNvSpPr>
            <a:spLocks noGrp="1"/>
          </p:cNvSpPr>
          <p:nvPr>
            <p:ph type="dt" idx="1"/>
          </p:nvPr>
        </p:nvSpPr>
        <p:spPr>
          <a:xfrm>
            <a:off x="4023092" y="0"/>
            <a:ext cx="3077739" cy="469424"/>
          </a:xfrm>
          <a:prstGeom prst="rect">
            <a:avLst/>
          </a:prstGeom>
        </p:spPr>
        <p:txBody>
          <a:bodyPr vert="horz" lIns="94229" tIns="47114" rIns="94229" bIns="47114" rtlCol="0"/>
          <a:lstStyle>
            <a:lvl1pPr algn="r">
              <a:defRPr sz="1200"/>
            </a:lvl1pPr>
          </a:lstStyle>
          <a:p>
            <a:fld id="{B1DAAD23-1DAD-4E16-B55A-656B2E66AA0B}" type="datetimeFigureOut">
              <a:rPr lang="en-US" smtClean="0"/>
              <a:t>7/9/2026</a:t>
            </a:fld>
            <a:endParaRPr lang="en-US"/>
          </a:p>
        </p:txBody>
      </p:sp>
      <p:sp>
        <p:nvSpPr>
          <p:cNvPr id="1048696" name="Slide Image Placeholder 3"/>
          <p:cNvSpPr>
            <a:spLocks noGrp="1" noRot="1" noChangeAspect="1"/>
          </p:cNvSpPr>
          <p:nvPr>
            <p:ph type="sldImg" idx="2"/>
          </p:nvPr>
        </p:nvSpPr>
        <p:spPr>
          <a:xfrm>
            <a:off x="1204913" y="704850"/>
            <a:ext cx="4692650" cy="3519488"/>
          </a:xfrm>
          <a:prstGeom prst="rect">
            <a:avLst/>
          </a:prstGeom>
          <a:noFill/>
          <a:ln w="12700">
            <a:solidFill>
              <a:prstClr val="black"/>
            </a:solidFill>
          </a:ln>
        </p:spPr>
        <p:txBody>
          <a:bodyPr vert="horz" lIns="94229" tIns="47114" rIns="94229" bIns="47114" rtlCol="0" anchor="ctr"/>
          <a:lstStyle/>
          <a:p>
            <a:endParaRPr lang="en-US"/>
          </a:p>
        </p:txBody>
      </p:sp>
      <p:sp>
        <p:nvSpPr>
          <p:cNvPr id="1048697" name="Notes Placeholder 4"/>
          <p:cNvSpPr>
            <a:spLocks noGrp="1"/>
          </p:cNvSpPr>
          <p:nvPr>
            <p:ph type="body" sz="quarter" idx="3"/>
          </p:nvPr>
        </p:nvSpPr>
        <p:spPr>
          <a:xfrm>
            <a:off x="710248" y="4459526"/>
            <a:ext cx="5681980" cy="4224814"/>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8" name="Footer Placeholder 5"/>
          <p:cNvSpPr>
            <a:spLocks noGrp="1"/>
          </p:cNvSpPr>
          <p:nvPr>
            <p:ph type="ftr" sz="quarter" idx="4"/>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1048699" name="Slide Number Placeholder 6"/>
          <p:cNvSpPr>
            <a:spLocks noGrp="1"/>
          </p:cNvSpPr>
          <p:nvPr>
            <p:ph type="sldNum" sz="quarter" idx="5"/>
          </p:nvPr>
        </p:nvSpPr>
        <p:spPr>
          <a:xfrm>
            <a:off x="4023092" y="8917422"/>
            <a:ext cx="3077739" cy="469424"/>
          </a:xfrm>
          <a:prstGeom prst="rect">
            <a:avLst/>
          </a:prstGeom>
        </p:spPr>
        <p:txBody>
          <a:bodyPr vert="horz" lIns="94229" tIns="47114" rIns="94229" bIns="47114" rtlCol="0" anchor="b"/>
          <a:lstStyle>
            <a:lvl1pPr algn="r">
              <a:defRPr sz="1200"/>
            </a:lvl1pPr>
          </a:lstStyle>
          <a:p>
            <a:fld id="{FD4C4563-0677-4C09-9689-D6B99D47D44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r>
              <a:rPr lang="en-US" b="0" i="0" dirty="0">
                <a:solidFill>
                  <a:srgbClr val="FFFFFF"/>
                </a:solidFill>
                <a:effectLst/>
                <a:latin typeface="Segoe UI Historic" panose="020B0502040204020203" pitchFamily="34" charset="0"/>
              </a:rPr>
              <a:t>Public pools rely on rules — wristbands to verify entry, proper swim attire, and no jumping or diving in restricted zones — but enforcement is still almost entirely manual. Lifeguards and attendants are already focused on patron safety, and during peak hours, it's simply not possible to watch every zone at once. Violations get missed, or they're caught inconsistently, which creates safety risks and sometimes friction between staff and patrons. </a:t>
            </a:r>
            <a:br>
              <a:rPr lang="en-US" b="0" i="0" dirty="0">
                <a:solidFill>
                  <a:srgbClr val="FFFFFF"/>
                </a:solidFill>
                <a:effectLst/>
                <a:latin typeface="Segoe UI Historic" panose="020B0502040204020203" pitchFamily="34" charset="0"/>
              </a:rPr>
            </a:br>
            <a:endParaRPr lang="en-US" b="0" i="0" dirty="0">
              <a:solidFill>
                <a:srgbClr val="FFFFFF"/>
              </a:solidFill>
              <a:effectLst/>
              <a:latin typeface="Segoe UI Historic" panose="020B0502040204020203" pitchFamily="34" charset="0"/>
            </a:endParaRPr>
          </a:p>
          <a:p>
            <a:r>
              <a:rPr lang="en-US" b="0" i="0" dirty="0" err="1">
                <a:solidFill>
                  <a:srgbClr val="FFFFFF"/>
                </a:solidFill>
                <a:effectLst/>
                <a:latin typeface="Segoe UI Historic" panose="020B0502040204020203" pitchFamily="34" charset="0"/>
              </a:rPr>
              <a:t>VisionPool</a:t>
            </a:r>
            <a:r>
              <a:rPr lang="en-US" b="0" i="0" dirty="0">
                <a:solidFill>
                  <a:srgbClr val="FFFFFF"/>
                </a:solidFill>
                <a:effectLst/>
                <a:latin typeface="Segoe UI Historic" panose="020B0502040204020203" pitchFamily="34" charset="0"/>
              </a:rPr>
              <a:t> is my response to that gap. It pairs a YOLOv8-based detection pipeline with a Tapo IP camera and a Django-powered dashboard, so pool staff get a live, data-driven tool for compliance monitoring instead of relying on constant manual observation.</a:t>
            </a:r>
            <a:endParaRPr lang="en-US" dirty="0"/>
          </a:p>
          <a:p>
            <a:endParaRPr lang="en-US" dirty="0"/>
          </a:p>
        </p:txBody>
      </p:sp>
      <p:sp>
        <p:nvSpPr>
          <p:cNvPr id="1048604" name="Slide Number Placeholder 3"/>
          <p:cNvSpPr>
            <a:spLocks noGrp="1"/>
          </p:cNvSpPr>
          <p:nvPr>
            <p:ph type="sldNum" sz="quarter" idx="10"/>
          </p:nvPr>
        </p:nvSpPr>
        <p:spPr/>
        <p:txBody>
          <a:bodyPr/>
          <a:lstStyle/>
          <a:p>
            <a:fld id="{FD4C4563-0677-4C09-9689-D6B99D47D445}"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Slide Image Placeholder 1"/>
          <p:cNvSpPr>
            <a:spLocks noGrp="1" noRot="1" noChangeAspect="1"/>
          </p:cNvSpPr>
          <p:nvPr>
            <p:ph type="sldImg"/>
          </p:nvPr>
        </p:nvSpPr>
        <p:spPr/>
      </p:sp>
      <p:sp>
        <p:nvSpPr>
          <p:cNvPr id="1048610" name="Notes Placeholder 2"/>
          <p:cNvSpPr>
            <a:spLocks noGrp="1"/>
          </p:cNvSpPr>
          <p:nvPr>
            <p:ph type="body" idx="1"/>
          </p:nvPr>
        </p:nvSpPr>
        <p:spPr/>
        <p:txBody>
          <a:bodyPr/>
          <a:lstStyle/>
          <a:p>
            <a:r>
              <a:rPr lang="en-US" b="0" i="0" dirty="0">
                <a:solidFill>
                  <a:srgbClr val="FFFFFF"/>
                </a:solidFill>
                <a:effectLst/>
                <a:latin typeface="Segoe UI Historic" panose="020B0502040204020203" pitchFamily="34" charset="0"/>
              </a:rPr>
              <a:t>To break that down into concrete problems: manual monitoring is labor-intensive and prone to human error. There's no systematic way to document violations, which makes it hard for management to track compliance trends over time. Existing pool management tools don't integrate real-time visual monitoring at all — and the manual enforcement itself adds stress to staff, sometimes leading to confrontations with patrons when rules are applied inconsistently. </a:t>
            </a:r>
            <a:r>
              <a:rPr lang="en-US" b="0" i="0" dirty="0" err="1">
                <a:solidFill>
                  <a:srgbClr val="FFFFFF"/>
                </a:solidFill>
                <a:effectLst/>
                <a:latin typeface="Segoe UI Historic" panose="020B0502040204020203" pitchFamily="34" charset="0"/>
              </a:rPr>
              <a:t>VisionPool</a:t>
            </a:r>
            <a:r>
              <a:rPr lang="en-US" b="0" i="0" dirty="0">
                <a:solidFill>
                  <a:srgbClr val="FFFFFF"/>
                </a:solidFill>
                <a:effectLst/>
                <a:latin typeface="Segoe UI Historic" panose="020B0502040204020203" pitchFamily="34" charset="0"/>
              </a:rPr>
              <a:t> addresses all four of these directly</a:t>
            </a:r>
            <a:endParaRPr lang="en-US" dirty="0"/>
          </a:p>
        </p:txBody>
      </p:sp>
      <p:sp>
        <p:nvSpPr>
          <p:cNvPr id="1048611" name="Slide Number Placeholder 3"/>
          <p:cNvSpPr>
            <a:spLocks noGrp="1"/>
          </p:cNvSpPr>
          <p:nvPr>
            <p:ph type="sldNum" sz="quarter" idx="10"/>
          </p:nvPr>
        </p:nvSpPr>
        <p:spPr/>
        <p:txBody>
          <a:bodyPr/>
          <a:lstStyle/>
          <a:p>
            <a:fld id="{FD4C4563-0677-4C09-9689-D6B99D47D445}"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Slide Image Placeholder 1"/>
          <p:cNvSpPr>
            <a:spLocks noGrp="1" noRot="1" noChangeAspect="1"/>
          </p:cNvSpPr>
          <p:nvPr>
            <p:ph type="sldImg"/>
          </p:nvPr>
        </p:nvSpPr>
        <p:spPr/>
      </p:sp>
      <p:sp>
        <p:nvSpPr>
          <p:cNvPr id="1048617" name="Notes Placeholder 2"/>
          <p:cNvSpPr>
            <a:spLocks noGrp="1"/>
          </p:cNvSpPr>
          <p:nvPr>
            <p:ph type="body" idx="1"/>
          </p:nvPr>
        </p:nvSpPr>
        <p:spPr/>
        <p:txBody>
          <a:bodyPr/>
          <a:lstStyle/>
          <a:p>
            <a:r>
              <a:rPr lang="en-US" b="0" i="0" dirty="0">
                <a:solidFill>
                  <a:srgbClr val="FFFFFF"/>
                </a:solidFill>
                <a:effectLst/>
                <a:latin typeface="Segoe UI Historic" panose="020B0502040204020203" pitchFamily="34" charset="0"/>
              </a:rPr>
              <a:t>My general objective is to design, develop, and evaluate a real-time compliance monitoring system that automatically flags violations and relays them to an administrative dashboard. </a:t>
            </a:r>
            <a:br>
              <a:rPr lang="en-US" b="0" i="0" dirty="0">
                <a:solidFill>
                  <a:srgbClr val="FFFFFF"/>
                </a:solidFill>
                <a:effectLst/>
                <a:latin typeface="Segoe UI Historic" panose="020B0502040204020203" pitchFamily="34" charset="0"/>
              </a:rPr>
            </a:br>
            <a:br>
              <a:rPr lang="en-US" b="0" i="0" dirty="0">
                <a:solidFill>
                  <a:srgbClr val="FFFFFF"/>
                </a:solidFill>
                <a:effectLst/>
                <a:latin typeface="Segoe UI Historic" panose="020B0502040204020203" pitchFamily="34" charset="0"/>
              </a:rPr>
            </a:br>
            <a:r>
              <a:rPr lang="en-US" b="0" i="0" dirty="0">
                <a:solidFill>
                  <a:srgbClr val="FFFFFF"/>
                </a:solidFill>
                <a:effectLst/>
                <a:latin typeface="Segoe UI Historic" panose="020B0502040204020203" pitchFamily="34" charset="0"/>
              </a:rPr>
              <a:t>To get there, I have five specific objectives: first, develop a YOLOv8 model that can identify wristbands, attire compliance, and jumping or diving activity. Second, implement automated flagging with timestamped screenshot capture. Third, build a Django-based dashboard for real-time, searchable violation logs. Fourth, integrate the detection pipeline with a Tapo IP camera through OpenCV. And fifth, evaluate the model's accuracy, precision, recall, and </a:t>
            </a:r>
            <a:r>
              <a:rPr lang="en-US" b="0" i="0" dirty="0" err="1">
                <a:solidFill>
                  <a:srgbClr val="FFFFFF"/>
                </a:solidFill>
                <a:effectLst/>
                <a:latin typeface="Segoe UI Historic" panose="020B0502040204020203" pitchFamily="34" charset="0"/>
              </a:rPr>
              <a:t>mAP</a:t>
            </a:r>
            <a:r>
              <a:rPr lang="en-US" b="0" i="0" dirty="0">
                <a:solidFill>
                  <a:srgbClr val="FFFFFF"/>
                </a:solidFill>
                <a:effectLst/>
                <a:latin typeface="Segoe UI Historic" panose="020B0502040204020203" pitchFamily="34" charset="0"/>
              </a:rPr>
              <a:t> on a locally collected dataset</a:t>
            </a:r>
            <a:endParaRPr lang="en-US" dirty="0"/>
          </a:p>
        </p:txBody>
      </p:sp>
      <p:sp>
        <p:nvSpPr>
          <p:cNvPr id="1048618" name="Slide Number Placeholder 3"/>
          <p:cNvSpPr>
            <a:spLocks noGrp="1"/>
          </p:cNvSpPr>
          <p:nvPr>
            <p:ph type="sldNum" sz="quarter" idx="10"/>
          </p:nvPr>
        </p:nvSpPr>
        <p:spPr/>
        <p:txBody>
          <a:bodyPr/>
          <a:lstStyle/>
          <a:p>
            <a:fld id="{FD4C4563-0677-4C09-9689-D6B99D47D445}"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Slide Image Placeholder 1"/>
          <p:cNvSpPr>
            <a:spLocks noGrp="1" noRot="1" noChangeAspect="1"/>
          </p:cNvSpPr>
          <p:nvPr>
            <p:ph type="sldImg"/>
          </p:nvPr>
        </p:nvSpPr>
        <p:spPr/>
      </p:sp>
      <p:sp>
        <p:nvSpPr>
          <p:cNvPr id="1048624" name="Notes Placeholder 2"/>
          <p:cNvSpPr>
            <a:spLocks noGrp="1"/>
          </p:cNvSpPr>
          <p:nvPr>
            <p:ph type="body" idx="1"/>
          </p:nvPr>
        </p:nvSpPr>
        <p:spPr/>
        <p:txBody>
          <a:bodyPr/>
          <a:lstStyle/>
          <a:p>
            <a:endParaRPr lang="en-US" dirty="0"/>
          </a:p>
        </p:txBody>
      </p:sp>
      <p:sp>
        <p:nvSpPr>
          <p:cNvPr id="1048625" name="Slide Number Placeholder 3"/>
          <p:cNvSpPr>
            <a:spLocks noGrp="1"/>
          </p:cNvSpPr>
          <p:nvPr>
            <p:ph type="sldNum" sz="quarter" idx="10"/>
          </p:nvPr>
        </p:nvSpPr>
        <p:spPr/>
        <p:txBody>
          <a:bodyPr/>
          <a:lstStyle/>
          <a:p>
            <a:fld id="{FD4C4563-0677-4C09-9689-D6B99D47D445}"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Slide Image Placeholder 1"/>
          <p:cNvSpPr>
            <a:spLocks noGrp="1" noRot="1" noChangeAspect="1"/>
          </p:cNvSpPr>
          <p:nvPr>
            <p:ph type="sldImg"/>
          </p:nvPr>
        </p:nvSpPr>
        <p:spPr/>
      </p:sp>
      <p:sp>
        <p:nvSpPr>
          <p:cNvPr id="1048638" name="Notes Placeholder 2"/>
          <p:cNvSpPr>
            <a:spLocks noGrp="1"/>
          </p:cNvSpPr>
          <p:nvPr>
            <p:ph type="body" idx="1"/>
          </p:nvPr>
        </p:nvSpPr>
        <p:spPr/>
        <p:txBody>
          <a:bodyPr/>
          <a:lstStyle/>
          <a:p>
            <a:r>
              <a:rPr lang="en-US" b="0" i="0" dirty="0">
                <a:solidFill>
                  <a:srgbClr val="FFFFFF"/>
                </a:solidFill>
                <a:effectLst/>
                <a:latin typeface="Segoe UI Historic" panose="020B0502040204020203" pitchFamily="34" charset="0"/>
              </a:rPr>
              <a:t>At its core, </a:t>
            </a:r>
            <a:r>
              <a:rPr lang="en-US" b="0" i="0" dirty="0" err="1">
                <a:solidFill>
                  <a:srgbClr val="FFFFFF"/>
                </a:solidFill>
                <a:effectLst/>
                <a:latin typeface="Segoe UI Historic" panose="020B0502040204020203" pitchFamily="34" charset="0"/>
              </a:rPr>
              <a:t>VisionPool</a:t>
            </a:r>
            <a:r>
              <a:rPr lang="en-US" b="0" i="0" dirty="0">
                <a:solidFill>
                  <a:srgbClr val="FFFFFF"/>
                </a:solidFill>
                <a:effectLst/>
                <a:latin typeface="Segoe UI Historic" panose="020B0502040204020203" pitchFamily="34" charset="0"/>
              </a:rPr>
              <a:t> follows a simple input-process-output model: input is the live RTSP feed from the camera, processing is YOLOv8 detection combined with rule logic, and output is flagged violations pushed to the dashboard as alerts. The core technology stack is YOLOv8, OpenCV, and a Tapo C310 IP camera running at its native 15 frames per second.</a:t>
            </a:r>
            <a:endParaRPr lang="en-US" dirty="0"/>
          </a:p>
        </p:txBody>
      </p:sp>
      <p:sp>
        <p:nvSpPr>
          <p:cNvPr id="1048639" name="Slide Number Placeholder 3"/>
          <p:cNvSpPr>
            <a:spLocks noGrp="1"/>
          </p:cNvSpPr>
          <p:nvPr>
            <p:ph type="sldNum" sz="quarter" idx="10"/>
          </p:nvPr>
        </p:nvSpPr>
        <p:spPr/>
        <p:txBody>
          <a:bodyPr/>
          <a:lstStyle/>
          <a:p>
            <a:fld id="{FD4C4563-0677-4C09-9689-D6B99D47D445}" type="slidenum">
              <a:rPr lang="en-US" smtClean="0"/>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r>
              <a:rPr lang="en-US" b="0" i="0" dirty="0">
                <a:solidFill>
                  <a:srgbClr val="FFFFFF"/>
                </a:solidFill>
                <a:effectLst/>
                <a:latin typeface="Segoe UI Historic" panose="020B0502040204020203" pitchFamily="34" charset="0"/>
              </a:rPr>
              <a:t>I'm using Agile development, building and testing the system in iterative sprints rather than all at once. For data, I'm collecting and labeling pool footage and images through </a:t>
            </a:r>
            <a:r>
              <a:rPr lang="en-US" b="0" i="0" dirty="0" err="1">
                <a:solidFill>
                  <a:srgbClr val="FFFFFF"/>
                </a:solidFill>
                <a:effectLst/>
                <a:latin typeface="Segoe UI Historic" panose="020B0502040204020203" pitchFamily="34" charset="0"/>
              </a:rPr>
              <a:t>Roboflow</a:t>
            </a:r>
            <a:r>
              <a:rPr lang="en-US" b="0" i="0" dirty="0">
                <a:solidFill>
                  <a:srgbClr val="FFFFFF"/>
                </a:solidFill>
                <a:effectLst/>
                <a:latin typeface="Segoe UI Historic" panose="020B0502040204020203" pitchFamily="34" charset="0"/>
              </a:rPr>
              <a:t>, then training the model on Google </a:t>
            </a:r>
            <a:r>
              <a:rPr lang="en-US" b="0" i="0" dirty="0" err="1">
                <a:solidFill>
                  <a:srgbClr val="FFFFFF"/>
                </a:solidFill>
                <a:effectLst/>
                <a:latin typeface="Segoe UI Historic" panose="020B0502040204020203" pitchFamily="34" charset="0"/>
              </a:rPr>
              <a:t>Colab</a:t>
            </a:r>
            <a:r>
              <a:rPr lang="en-US" b="0" i="0" dirty="0">
                <a:solidFill>
                  <a:srgbClr val="FFFFFF"/>
                </a:solidFill>
                <a:effectLst/>
                <a:latin typeface="Segoe UI Historic" panose="020B0502040204020203" pitchFamily="34" charset="0"/>
              </a:rPr>
              <a:t>. The pipeline itself flows from OpenCV's RTSP capture, through YOLOv8 inference, to logging in the Django API. And for testing, I'm evaluating precision and recall on the model side, plus usability testing of the dashboard with actual staff</a:t>
            </a:r>
            <a:endParaRPr lang="en-US" dirty="0"/>
          </a:p>
        </p:txBody>
      </p:sp>
      <p:sp>
        <p:nvSpPr>
          <p:cNvPr id="1048646" name="Slide Number Placeholder 3"/>
          <p:cNvSpPr>
            <a:spLocks noGrp="1"/>
          </p:cNvSpPr>
          <p:nvPr>
            <p:ph type="sldNum" sz="quarter" idx="10"/>
          </p:nvPr>
        </p:nvSpPr>
        <p:spPr/>
        <p:txBody>
          <a:bodyPr/>
          <a:lstStyle/>
          <a:p>
            <a:fld id="{FD4C4563-0677-4C09-9689-D6B99D47D445}" type="slidenum">
              <a:rPr lang="en-US" smtClean="0"/>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Slide Image Placeholder 1"/>
          <p:cNvSpPr>
            <a:spLocks noGrp="1" noRot="1" noChangeAspect="1"/>
          </p:cNvSpPr>
          <p:nvPr>
            <p:ph type="sldImg"/>
          </p:nvPr>
        </p:nvSpPr>
        <p:spPr/>
      </p:sp>
      <p:sp>
        <p:nvSpPr>
          <p:cNvPr id="1048652" name="Notes Placeholder 2"/>
          <p:cNvSpPr>
            <a:spLocks noGrp="1"/>
          </p:cNvSpPr>
          <p:nvPr>
            <p:ph type="body" idx="1"/>
          </p:nvPr>
        </p:nvSpPr>
        <p:spPr/>
        <p:txBody>
          <a:bodyPr/>
          <a:lstStyle/>
          <a:p>
            <a:r>
              <a:rPr lang="en-US" b="0" i="0" dirty="0">
                <a:solidFill>
                  <a:srgbClr val="FFFFFF"/>
                </a:solidFill>
                <a:effectLst/>
                <a:latin typeface="Segoe UI Historic" panose="020B0502040204020203" pitchFamily="34" charset="0"/>
              </a:rPr>
              <a:t>Here's where the project already stands: I have a live video feed with real-time bounding-box detection overlay, and an admin dashboard that shows violation alerts, confidence scores, and a timestamped log. </a:t>
            </a:r>
            <a:r>
              <a:rPr lang="en-US" b="0" i="0">
                <a:solidFill>
                  <a:srgbClr val="FFFFFF"/>
                </a:solidFill>
                <a:effectLst/>
                <a:latin typeface="Segoe UI Historic" panose="020B0502040204020203" pitchFamily="34" charset="0"/>
              </a:rPr>
              <a:t>The system currently tracks three violation types — missing wristband, improper attire, and prohibited jumping or diving — and it's built on Django and SQLite with a REST-style violations API</a:t>
            </a:r>
            <a:endParaRPr lang="en-US" dirty="0"/>
          </a:p>
        </p:txBody>
      </p:sp>
      <p:sp>
        <p:nvSpPr>
          <p:cNvPr id="1048653" name="Slide Number Placeholder 3"/>
          <p:cNvSpPr>
            <a:spLocks noGrp="1"/>
          </p:cNvSpPr>
          <p:nvPr>
            <p:ph type="sldNum" sz="quarter" idx="10"/>
          </p:nvPr>
        </p:nvSpPr>
        <p:spPr/>
        <p:txBody>
          <a:bodyPr/>
          <a:lstStyle/>
          <a:p>
            <a:fld id="{FD4C4563-0677-4C09-9689-D6B99D47D445}" type="slidenum">
              <a:rPr lang="en-US" smtClean="0"/>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Rectangle 36"/>
          <p:cNvSpPr/>
          <p:nvPr userDrawn="1"/>
        </p:nvSpPr>
        <p:spPr>
          <a:xfrm>
            <a:off x="2590800" y="0"/>
            <a:ext cx="436463" cy="6858000"/>
          </a:xfrm>
          <a:prstGeom prst="rect">
            <a:avLst/>
          </a:prstGeom>
          <a:solidFill>
            <a:srgbClr val="9A12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2" name="Rectangle 35"/>
          <p:cNvSpPr/>
          <p:nvPr userDrawn="1"/>
        </p:nvSpPr>
        <p:spPr>
          <a:xfrm>
            <a:off x="2382937" y="0"/>
            <a:ext cx="436463" cy="6858000"/>
          </a:xfrm>
          <a:prstGeom prst="rect">
            <a:avLst/>
          </a:prstGeom>
          <a:solidFill>
            <a:srgbClr val="A9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3" name="Rectangle 11"/>
          <p:cNvSpPr/>
          <p:nvPr userDrawn="1"/>
        </p:nvSpPr>
        <p:spPr>
          <a:xfrm>
            <a:off x="0" y="0"/>
            <a:ext cx="2611537" cy="6858000"/>
          </a:xfrm>
          <a:prstGeom prst="rect">
            <a:avLst/>
          </a:prstGeom>
          <a:solidFill>
            <a:srgbClr val="BB1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52" name="Picture 3"/>
          <p:cNvPicPr>
            <a:picLocks noChangeAspect="1" noChangeArrowheads="1"/>
          </p:cNvPicPr>
          <p:nvPr userDrawn="1"/>
        </p:nvPicPr>
        <p:blipFill rotWithShape="1">
          <a:blip r:embed="rId2"/>
          <a:srcRect l="26600" r="27963"/>
          <a:stretch>
            <a:fillRect/>
          </a:stretch>
        </p:blipFill>
        <p:spPr bwMode="auto">
          <a:xfrm>
            <a:off x="0" y="238387"/>
            <a:ext cx="3027263" cy="6358003"/>
          </a:xfrm>
          <a:prstGeom prst="rect">
            <a:avLst/>
          </a:prstGeom>
          <a:noFill/>
        </p:spPr>
      </p:pic>
      <p:sp>
        <p:nvSpPr>
          <p:cNvPr id="1048584" name="Title 1"/>
          <p:cNvSpPr>
            <a:spLocks noGrp="1"/>
          </p:cNvSpPr>
          <p:nvPr>
            <p:ph type="ctrTitle" hasCustomPrompt="1"/>
          </p:nvPr>
        </p:nvSpPr>
        <p:spPr>
          <a:xfrm>
            <a:off x="3429000" y="381000"/>
            <a:ext cx="5486400" cy="3886199"/>
          </a:xfrm>
        </p:spPr>
        <p:txBody>
          <a:bodyPr anchor="b">
            <a:noAutofit/>
          </a:bodyPr>
          <a:lstStyle>
            <a:lvl1pPr algn="l">
              <a:defRPr sz="6600" b="1" baseline="0">
                <a:solidFill>
                  <a:schemeClr val="tx1">
                    <a:lumMod val="75000"/>
                    <a:lumOff val="25000"/>
                  </a:schemeClr>
                </a:solidFill>
                <a:latin typeface="Arial" pitchFamily="34" charset="0"/>
                <a:cs typeface="Arial" pitchFamily="34" charset="0"/>
              </a:defRPr>
            </a:lvl1pPr>
          </a:lstStyle>
          <a:p>
            <a:br>
              <a:rPr lang="en-US" dirty="0"/>
            </a:br>
            <a:br>
              <a:rPr lang="en-US" dirty="0"/>
            </a:br>
            <a:r>
              <a:rPr lang="en-US" altLang="en-US" noProof="0" dirty="0"/>
              <a:t>Click to edit Master title style</a:t>
            </a:r>
            <a:endParaRPr lang="en-US" dirty="0"/>
          </a:p>
        </p:txBody>
      </p:sp>
      <p:sp>
        <p:nvSpPr>
          <p:cNvPr id="1048585" name="Subtitle 2"/>
          <p:cNvSpPr>
            <a:spLocks noGrp="1"/>
          </p:cNvSpPr>
          <p:nvPr>
            <p:ph type="subTitle" idx="1"/>
          </p:nvPr>
        </p:nvSpPr>
        <p:spPr>
          <a:xfrm>
            <a:off x="3429000" y="4419600"/>
            <a:ext cx="5486400" cy="1600200"/>
          </a:xfrm>
        </p:spPr>
        <p:txBody>
          <a:bodyPr/>
          <a:lstStyle>
            <a:lvl1pPr marL="0" indent="0" algn="l">
              <a:buNone/>
              <a:defRPr>
                <a:solidFill>
                  <a:srgbClr val="680C0C"/>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48586" name="Date Placeholder 3"/>
          <p:cNvSpPr>
            <a:spLocks noGrp="1"/>
          </p:cNvSpPr>
          <p:nvPr>
            <p:ph type="dt" sz="half" idx="10"/>
          </p:nvPr>
        </p:nvSpPr>
        <p:spPr/>
        <p:txBody>
          <a:bodyPr/>
          <a:lstStyle/>
          <a:p>
            <a:fld id="{C13C5775-14F7-4B67-BEFF-CDF15033A76A}" type="datetime1">
              <a:rPr lang="en-US" smtClean="0"/>
              <a:t>7/9/2026</a:t>
            </a:fld>
            <a:endParaRPr lang="en-US"/>
          </a:p>
        </p:txBody>
      </p:sp>
      <p:sp>
        <p:nvSpPr>
          <p:cNvPr id="1048587" name="Footer Placeholder 4"/>
          <p:cNvSpPr>
            <a:spLocks noGrp="1"/>
          </p:cNvSpPr>
          <p:nvPr>
            <p:ph type="ftr" sz="quarter" idx="11"/>
          </p:nvPr>
        </p:nvSpPr>
        <p:spPr/>
        <p:txBody>
          <a:bodyPr/>
          <a:lstStyle/>
          <a:p>
            <a:endParaRPr lang="en-US"/>
          </a:p>
        </p:txBody>
      </p:sp>
      <p:sp>
        <p:nvSpPr>
          <p:cNvPr id="1048588"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1048589" name="TextBox 12"/>
          <p:cNvSpPr txBox="1"/>
          <p:nvPr userDrawn="1"/>
        </p:nvSpPr>
        <p:spPr>
          <a:xfrm>
            <a:off x="-126221" y="4334470"/>
            <a:ext cx="3189515" cy="891540"/>
          </a:xfrm>
          <a:prstGeom prst="rect">
            <a:avLst/>
          </a:prstGeom>
          <a:noFill/>
        </p:spPr>
        <p:txBody>
          <a:bodyPr wrap="square" rtlCol="0">
            <a:spAutoFit/>
          </a:bodyPr>
          <a:lstStyle/>
          <a:p>
            <a:pPr algn="ctr"/>
            <a:r>
              <a:rPr lang="en-US" sz="5400" b="1" dirty="0">
                <a:solidFill>
                  <a:schemeClr val="bg1"/>
                </a:solidFill>
                <a:latin typeface="Arial" pitchFamily="34" charset="0"/>
                <a:ea typeface="Tahoma" pitchFamily="34" charset="0"/>
                <a:cs typeface="Arial" pitchFamily="34" charset="0"/>
              </a:rPr>
              <a:t>WMSU</a:t>
            </a:r>
          </a:p>
        </p:txBody>
      </p:sp>
      <p:sp>
        <p:nvSpPr>
          <p:cNvPr id="1048590" name="Rectangle 15"/>
          <p:cNvSpPr/>
          <p:nvPr userDrawn="1"/>
        </p:nvSpPr>
        <p:spPr>
          <a:xfrm>
            <a:off x="9067800" y="0"/>
            <a:ext cx="152400" cy="6858000"/>
          </a:xfrm>
          <a:prstGeom prst="rect">
            <a:avLst/>
          </a:prstGeom>
          <a:gradFill>
            <a:gsLst>
              <a:gs pos="45000">
                <a:srgbClr val="E11919"/>
              </a:gs>
              <a:gs pos="53000">
                <a:srgbClr val="BB1515"/>
              </a:gs>
              <a:gs pos="55395">
                <a:srgbClr val="DA18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45728" name="Straight Connector 17"/>
          <p:cNvCxnSpPr>
            <a:cxnSpLocks/>
          </p:cNvCxnSpPr>
          <p:nvPr userDrawn="1"/>
        </p:nvCxnSpPr>
        <p:spPr>
          <a:xfrm>
            <a:off x="325537" y="4419600"/>
            <a:ext cx="2286000" cy="0"/>
          </a:xfrm>
          <a:prstGeom prst="line">
            <a:avLst/>
          </a:prstGeom>
          <a:ln w="25400">
            <a:solidFill>
              <a:schemeClr val="bg1"/>
            </a:solidFill>
            <a:prstDash val="lgDashDot"/>
          </a:ln>
        </p:spPr>
        <p:style>
          <a:lnRef idx="1">
            <a:schemeClr val="accent1"/>
          </a:lnRef>
          <a:fillRef idx="0">
            <a:schemeClr val="accent1"/>
          </a:fillRef>
          <a:effectRef idx="0">
            <a:schemeClr val="accent1"/>
          </a:effectRef>
          <a:fontRef idx="minor">
            <a:schemeClr val="tx1"/>
          </a:fontRef>
        </p:style>
      </p:cxnSp>
      <p:pic>
        <p:nvPicPr>
          <p:cNvPr id="2097153" name="Picture 7"/>
          <p:cNvPicPr>
            <a:picLocks noChangeAspect="1"/>
          </p:cNvPicPr>
          <p:nvPr userDrawn="1"/>
        </p:nvPicPr>
        <p:blipFill>
          <a:blip r:embed="rId3" cstate="print"/>
          <a:stretch>
            <a:fillRect/>
          </a:stretch>
        </p:blipFill>
        <p:spPr>
          <a:xfrm>
            <a:off x="284742" y="1837667"/>
            <a:ext cx="2316426" cy="231642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3" name="Title 1"/>
          <p:cNvSpPr>
            <a:spLocks noGrp="1"/>
          </p:cNvSpPr>
          <p:nvPr>
            <p:ph type="title"/>
          </p:nvPr>
        </p:nvSpPr>
        <p:spPr>
          <a:xfrm>
            <a:off x="457200" y="838200"/>
            <a:ext cx="8229600" cy="655638"/>
          </a:xfrm>
        </p:spPr>
        <p:txBody>
          <a:bodyPr>
            <a:noAutofit/>
          </a:bodyPr>
          <a:lstStyle>
            <a:lvl1pPr algn="l">
              <a:defRPr sz="3600" b="1">
                <a:solidFill>
                  <a:schemeClr val="tx1">
                    <a:lumMod val="75000"/>
                    <a:lumOff val="25000"/>
                  </a:schemeClr>
                </a:solidFill>
                <a:latin typeface="Tahoma" pitchFamily="34" charset="0"/>
                <a:ea typeface="Tahoma" pitchFamily="34" charset="0"/>
                <a:cs typeface="Tahoma" pitchFamily="34" charset="0"/>
              </a:defRPr>
            </a:lvl1pPr>
          </a:lstStyle>
          <a:p>
            <a:r>
              <a:rPr lang="en-US"/>
              <a:t>Click to edit Master title style</a:t>
            </a:r>
            <a:endParaRPr lang="en-US" dirty="0"/>
          </a:p>
        </p:txBody>
      </p:sp>
      <p:sp>
        <p:nvSpPr>
          <p:cNvPr id="1048664" name="Content Placeholder 2"/>
          <p:cNvSpPr>
            <a:spLocks noGrp="1"/>
          </p:cNvSpPr>
          <p:nvPr>
            <p:ph idx="1"/>
          </p:nvPr>
        </p:nvSpPr>
        <p:spPr>
          <a:xfrm>
            <a:off x="457200" y="1676400"/>
            <a:ext cx="8229600" cy="4449763"/>
          </a:xfrm>
        </p:spPr>
        <p:txBody>
          <a:bodyPr/>
          <a:lstStyle>
            <a:lvl1pPr>
              <a:defRPr>
                <a:solidFill>
                  <a:schemeClr val="tx1">
                    <a:lumMod val="85000"/>
                    <a:lumOff val="15000"/>
                  </a:schemeClr>
                </a:solidFill>
                <a:latin typeface="Arial" pitchFamily="34" charset="0"/>
                <a:ea typeface="Tahoma" pitchFamily="34" charset="0"/>
                <a:cs typeface="Arial" pitchFamily="34" charset="0"/>
              </a:defRPr>
            </a:lvl1pPr>
            <a:lvl2pPr>
              <a:defRPr>
                <a:solidFill>
                  <a:schemeClr val="tx1">
                    <a:lumMod val="85000"/>
                    <a:lumOff val="15000"/>
                  </a:schemeClr>
                </a:solidFill>
                <a:latin typeface="Arial" pitchFamily="34" charset="0"/>
                <a:ea typeface="Tahoma" pitchFamily="34" charset="0"/>
                <a:cs typeface="Arial" pitchFamily="34" charset="0"/>
              </a:defRPr>
            </a:lvl2pPr>
            <a:lvl3pPr>
              <a:defRPr>
                <a:solidFill>
                  <a:schemeClr val="tx1">
                    <a:lumMod val="85000"/>
                    <a:lumOff val="15000"/>
                  </a:schemeClr>
                </a:solidFill>
                <a:latin typeface="Arial" pitchFamily="34" charset="0"/>
                <a:ea typeface="Tahoma" pitchFamily="34" charset="0"/>
                <a:cs typeface="Arial" pitchFamily="34" charset="0"/>
              </a:defRPr>
            </a:lvl3pPr>
            <a:lvl4pPr>
              <a:defRPr>
                <a:solidFill>
                  <a:schemeClr val="tx1">
                    <a:lumMod val="85000"/>
                    <a:lumOff val="15000"/>
                  </a:schemeClr>
                </a:solidFill>
                <a:latin typeface="Arial" pitchFamily="34" charset="0"/>
                <a:ea typeface="Tahoma" pitchFamily="34" charset="0"/>
                <a:cs typeface="Arial" pitchFamily="34" charset="0"/>
              </a:defRPr>
            </a:lvl4pPr>
            <a:lvl5pPr>
              <a:defRPr>
                <a:solidFill>
                  <a:schemeClr val="tx1">
                    <a:lumMod val="85000"/>
                    <a:lumOff val="15000"/>
                  </a:schemeClr>
                </a:solidFill>
                <a:latin typeface="Arial" pitchFamily="34" charset="0"/>
                <a:ea typeface="Tahoma"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65" name="Date Placeholder 3"/>
          <p:cNvSpPr>
            <a:spLocks noGrp="1"/>
          </p:cNvSpPr>
          <p:nvPr>
            <p:ph type="dt" sz="half" idx="10"/>
          </p:nvPr>
        </p:nvSpPr>
        <p:spPr/>
        <p:txBody>
          <a:bodyPr/>
          <a:lstStyle/>
          <a:p>
            <a:fld id="{63C481CA-F601-416F-94B0-839D33299AAF}" type="datetime1">
              <a:rPr lang="en-US" smtClean="0"/>
              <a:t>7/9/2026</a:t>
            </a:fld>
            <a:endParaRPr lang="en-US"/>
          </a:p>
        </p:txBody>
      </p:sp>
      <p:sp>
        <p:nvSpPr>
          <p:cNvPr id="1048666" name="Footer Placeholder 4"/>
          <p:cNvSpPr>
            <a:spLocks noGrp="1"/>
          </p:cNvSpPr>
          <p:nvPr>
            <p:ph type="ftr" sz="quarter" idx="11"/>
          </p:nvPr>
        </p:nvSpPr>
        <p:spPr/>
        <p:txBody>
          <a:bodyPr/>
          <a:lstStyle/>
          <a:p>
            <a:endParaRPr lang="en-US"/>
          </a:p>
        </p:txBody>
      </p:sp>
      <p:sp>
        <p:nvSpPr>
          <p:cNvPr id="1048667" name="Slide Number Placeholder 5"/>
          <p:cNvSpPr>
            <a:spLocks noGrp="1"/>
          </p:cNvSpPr>
          <p:nvPr>
            <p:ph type="sldNum" sz="quarter" idx="12"/>
          </p:nvPr>
        </p:nvSpPr>
        <p:spPr/>
        <p:txBody>
          <a:bodyPr/>
          <a:lstStyle/>
          <a:p>
            <a:fld id="{B6F15528-21DE-4FAA-801E-634DDDAF4B2B}" type="slidenum">
              <a:rPr lang="en-US" smtClean="0"/>
              <a:t>‹#›</a:t>
            </a:fld>
            <a:endParaRPr lang="en-US"/>
          </a:p>
        </p:txBody>
      </p:sp>
      <p:pic>
        <p:nvPicPr>
          <p:cNvPr id="2097157" name="Picture 7"/>
          <p:cNvPicPr>
            <a:picLocks noChangeAspect="1"/>
          </p:cNvPicPr>
          <p:nvPr userDrawn="1"/>
        </p:nvPicPr>
        <p:blipFill>
          <a:blip r:embed="rId2"/>
          <a:stretch>
            <a:fillRect/>
          </a:stretch>
        </p:blipFill>
        <p:spPr>
          <a:xfrm>
            <a:off x="152400" y="763461"/>
            <a:ext cx="9144000" cy="682752"/>
          </a:xfrm>
          <a:prstGeom prst="rect">
            <a:avLst/>
          </a:prstGeom>
        </p:spPr>
      </p:pic>
      <p:pic>
        <p:nvPicPr>
          <p:cNvPr id="2097158" name="Picture 8"/>
          <p:cNvPicPr>
            <a:picLocks noChangeAspect="1"/>
          </p:cNvPicPr>
          <p:nvPr userDrawn="1"/>
        </p:nvPicPr>
        <p:blipFill>
          <a:blip r:embed="rId3"/>
          <a:stretch>
            <a:fillRect/>
          </a:stretch>
        </p:blipFill>
        <p:spPr>
          <a:xfrm>
            <a:off x="0" y="0"/>
            <a:ext cx="9144000" cy="68275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593" name="Title 1"/>
          <p:cNvSpPr>
            <a:spLocks noGrp="1"/>
          </p:cNvSpPr>
          <p:nvPr>
            <p:ph type="title"/>
          </p:nvPr>
        </p:nvSpPr>
        <p:spPr>
          <a:xfrm>
            <a:off x="685800" y="1600200"/>
            <a:ext cx="7772400" cy="2743200"/>
          </a:xfrm>
        </p:spPr>
        <p:txBody>
          <a:bodyPr anchor="b">
            <a:noAutofit/>
          </a:bodyPr>
          <a:lstStyle>
            <a:lvl1pPr algn="l">
              <a:defRPr sz="6000" b="1" cap="all">
                <a:solidFill>
                  <a:schemeClr val="tx1">
                    <a:lumMod val="75000"/>
                    <a:lumOff val="25000"/>
                  </a:schemeClr>
                </a:solidFill>
                <a:latin typeface="Tahoma" pitchFamily="34" charset="0"/>
                <a:ea typeface="Tahoma" pitchFamily="34" charset="0"/>
                <a:cs typeface="Tahoma" pitchFamily="34" charset="0"/>
              </a:defRPr>
            </a:lvl1pPr>
          </a:lstStyle>
          <a:p>
            <a:r>
              <a:rPr lang="en-US"/>
              <a:t>Click to edit Master title style</a:t>
            </a:r>
            <a:endParaRPr lang="en-US" dirty="0"/>
          </a:p>
        </p:txBody>
      </p:sp>
      <p:sp>
        <p:nvSpPr>
          <p:cNvPr id="1048594" name="Text Placeholder 2"/>
          <p:cNvSpPr>
            <a:spLocks noGrp="1"/>
          </p:cNvSpPr>
          <p:nvPr>
            <p:ph type="body" idx="1"/>
          </p:nvPr>
        </p:nvSpPr>
        <p:spPr>
          <a:xfrm>
            <a:off x="685800" y="4419600"/>
            <a:ext cx="7772400" cy="1600199"/>
          </a:xfrm>
        </p:spPr>
        <p:txBody>
          <a:bodyPr anchor="t">
            <a:normAutofit/>
          </a:bodyPr>
          <a:lstStyle>
            <a:lvl1pPr marL="0" indent="0">
              <a:buNone/>
              <a:defRPr sz="2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595" name="Date Placeholder 3"/>
          <p:cNvSpPr>
            <a:spLocks noGrp="1"/>
          </p:cNvSpPr>
          <p:nvPr>
            <p:ph type="dt" sz="half" idx="10"/>
          </p:nvPr>
        </p:nvSpPr>
        <p:spPr/>
        <p:txBody>
          <a:bodyPr/>
          <a:lstStyle/>
          <a:p>
            <a:fld id="{0EC578F6-7A2E-4965-9EF1-A8BE0E94DFBD}" type="datetime1">
              <a:rPr lang="en-US" smtClean="0"/>
              <a:t>7/9/2026</a:t>
            </a:fld>
            <a:endParaRPr lang="en-US"/>
          </a:p>
        </p:txBody>
      </p:sp>
      <p:sp>
        <p:nvSpPr>
          <p:cNvPr id="1048596" name="Footer Placeholder 4"/>
          <p:cNvSpPr>
            <a:spLocks noGrp="1"/>
          </p:cNvSpPr>
          <p:nvPr>
            <p:ph type="ftr" sz="quarter" idx="11"/>
          </p:nvPr>
        </p:nvSpPr>
        <p:spPr/>
        <p:txBody>
          <a:bodyPr/>
          <a:lstStyle/>
          <a:p>
            <a:endParaRPr lang="en-US"/>
          </a:p>
        </p:txBody>
      </p:sp>
      <p:sp>
        <p:nvSpPr>
          <p:cNvPr id="1048597" name="Slide Number Placeholder 5"/>
          <p:cNvSpPr>
            <a:spLocks noGrp="1"/>
          </p:cNvSpPr>
          <p:nvPr>
            <p:ph type="sldNum" sz="quarter" idx="12"/>
          </p:nvPr>
        </p:nvSpPr>
        <p:spPr/>
        <p:txBody>
          <a:bodyPr/>
          <a:lstStyle/>
          <a:p>
            <a:fld id="{B6F15528-21DE-4FAA-801E-634DDDAF4B2B}" type="slidenum">
              <a:rPr lang="en-US" smtClean="0"/>
              <a:t>‹#›</a:t>
            </a:fld>
            <a:endParaRPr lang="en-US"/>
          </a:p>
        </p:txBody>
      </p:sp>
      <p:pic>
        <p:nvPicPr>
          <p:cNvPr id="2097154" name="Picture 9"/>
          <p:cNvPicPr>
            <a:picLocks noChangeAspect="1"/>
          </p:cNvPicPr>
          <p:nvPr userDrawn="1"/>
        </p:nvPicPr>
        <p:blipFill>
          <a:blip r:embed="rId2"/>
          <a:stretch>
            <a:fillRect/>
          </a:stretch>
        </p:blipFill>
        <p:spPr>
          <a:xfrm>
            <a:off x="0" y="0"/>
            <a:ext cx="9144000" cy="113995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68" name="Content Placeholder 2"/>
          <p:cNvSpPr>
            <a:spLocks noGrp="1"/>
          </p:cNvSpPr>
          <p:nvPr>
            <p:ph sz="half" idx="1"/>
          </p:nvPr>
        </p:nvSpPr>
        <p:spPr>
          <a:xfrm>
            <a:off x="457200" y="1676400"/>
            <a:ext cx="4038600" cy="4449763"/>
          </a:xfrm>
        </p:spPr>
        <p:txBody>
          <a:bodyPr/>
          <a:lstStyle>
            <a:lvl1pPr>
              <a:defRPr sz="2800">
                <a:solidFill>
                  <a:schemeClr val="tx1">
                    <a:lumMod val="85000"/>
                    <a:lumOff val="15000"/>
                  </a:schemeClr>
                </a:solidFill>
                <a:latin typeface="Arial" pitchFamily="34" charset="0"/>
                <a:cs typeface="Arial" pitchFamily="34" charset="0"/>
              </a:defRPr>
            </a:lvl1pPr>
            <a:lvl2pPr>
              <a:defRPr sz="2400">
                <a:solidFill>
                  <a:schemeClr val="tx1">
                    <a:lumMod val="85000"/>
                    <a:lumOff val="15000"/>
                  </a:schemeClr>
                </a:solidFill>
                <a:latin typeface="Arial" pitchFamily="34" charset="0"/>
                <a:cs typeface="Arial" pitchFamily="34" charset="0"/>
              </a:defRPr>
            </a:lvl2pPr>
            <a:lvl3pPr>
              <a:defRPr sz="2000">
                <a:solidFill>
                  <a:schemeClr val="tx1">
                    <a:lumMod val="85000"/>
                    <a:lumOff val="15000"/>
                  </a:schemeClr>
                </a:solidFill>
                <a:latin typeface="Arial" pitchFamily="34" charset="0"/>
                <a:cs typeface="Arial" pitchFamily="34" charset="0"/>
              </a:defRPr>
            </a:lvl3pPr>
            <a:lvl4pPr>
              <a:defRPr sz="1800">
                <a:solidFill>
                  <a:schemeClr val="tx1">
                    <a:lumMod val="85000"/>
                    <a:lumOff val="15000"/>
                  </a:schemeClr>
                </a:solidFill>
                <a:latin typeface="Arial" pitchFamily="34" charset="0"/>
                <a:cs typeface="Arial" pitchFamily="34" charset="0"/>
              </a:defRPr>
            </a:lvl4pPr>
            <a:lvl5pPr>
              <a:defRPr sz="1800">
                <a:solidFill>
                  <a:schemeClr val="tx1">
                    <a:lumMod val="85000"/>
                    <a:lumOff val="15000"/>
                  </a:schemeClr>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69" name="Content Placeholder 3"/>
          <p:cNvSpPr>
            <a:spLocks noGrp="1"/>
          </p:cNvSpPr>
          <p:nvPr>
            <p:ph sz="half" idx="2"/>
          </p:nvPr>
        </p:nvSpPr>
        <p:spPr>
          <a:xfrm>
            <a:off x="4648200" y="1676400"/>
            <a:ext cx="4038600" cy="4449763"/>
          </a:xfrm>
        </p:spPr>
        <p:txBody>
          <a:bodyPr/>
          <a:lstStyle>
            <a:lvl1pPr>
              <a:defRPr sz="2800">
                <a:solidFill>
                  <a:schemeClr val="tx1">
                    <a:lumMod val="85000"/>
                    <a:lumOff val="15000"/>
                  </a:schemeClr>
                </a:solidFill>
                <a:latin typeface="Arial" pitchFamily="34" charset="0"/>
                <a:cs typeface="Arial" pitchFamily="34" charset="0"/>
              </a:defRPr>
            </a:lvl1pPr>
            <a:lvl2pPr>
              <a:defRPr sz="2400">
                <a:solidFill>
                  <a:schemeClr val="tx1">
                    <a:lumMod val="85000"/>
                    <a:lumOff val="15000"/>
                  </a:schemeClr>
                </a:solidFill>
                <a:latin typeface="Arial" pitchFamily="34" charset="0"/>
                <a:cs typeface="Arial" pitchFamily="34" charset="0"/>
              </a:defRPr>
            </a:lvl2pPr>
            <a:lvl3pPr>
              <a:defRPr sz="2000">
                <a:solidFill>
                  <a:schemeClr val="tx1">
                    <a:lumMod val="85000"/>
                    <a:lumOff val="15000"/>
                  </a:schemeClr>
                </a:solidFill>
                <a:latin typeface="Arial" pitchFamily="34" charset="0"/>
                <a:cs typeface="Arial" pitchFamily="34" charset="0"/>
              </a:defRPr>
            </a:lvl3pPr>
            <a:lvl4pPr>
              <a:defRPr sz="1800">
                <a:solidFill>
                  <a:schemeClr val="tx1">
                    <a:lumMod val="85000"/>
                    <a:lumOff val="15000"/>
                  </a:schemeClr>
                </a:solidFill>
                <a:latin typeface="Arial" pitchFamily="34" charset="0"/>
                <a:cs typeface="Arial" pitchFamily="34" charset="0"/>
              </a:defRPr>
            </a:lvl4pPr>
            <a:lvl5pPr>
              <a:defRPr sz="1800">
                <a:solidFill>
                  <a:schemeClr val="tx1">
                    <a:lumMod val="85000"/>
                    <a:lumOff val="15000"/>
                  </a:schemeClr>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70" name="Date Placeholder 4"/>
          <p:cNvSpPr>
            <a:spLocks noGrp="1"/>
          </p:cNvSpPr>
          <p:nvPr>
            <p:ph type="dt" sz="half" idx="10"/>
          </p:nvPr>
        </p:nvSpPr>
        <p:spPr/>
        <p:txBody>
          <a:bodyPr/>
          <a:lstStyle/>
          <a:p>
            <a:fld id="{7FA0E61E-FB4D-41FA-894D-F50A40F5E8D3}" type="datetime1">
              <a:rPr lang="en-US" smtClean="0"/>
              <a:t>7/9/2026</a:t>
            </a:fld>
            <a:endParaRPr lang="en-US"/>
          </a:p>
        </p:txBody>
      </p:sp>
      <p:sp>
        <p:nvSpPr>
          <p:cNvPr id="1048671" name="Footer Placeholder 5"/>
          <p:cNvSpPr>
            <a:spLocks noGrp="1"/>
          </p:cNvSpPr>
          <p:nvPr>
            <p:ph type="ftr" sz="quarter" idx="11"/>
          </p:nvPr>
        </p:nvSpPr>
        <p:spPr/>
        <p:txBody>
          <a:bodyPr/>
          <a:lstStyle/>
          <a:p>
            <a:endParaRPr lang="en-US"/>
          </a:p>
        </p:txBody>
      </p:sp>
      <p:sp>
        <p:nvSpPr>
          <p:cNvPr id="1048672"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1048673" name="Title 1"/>
          <p:cNvSpPr>
            <a:spLocks noGrp="1"/>
          </p:cNvSpPr>
          <p:nvPr>
            <p:ph type="title"/>
          </p:nvPr>
        </p:nvSpPr>
        <p:spPr>
          <a:xfrm>
            <a:off x="457200" y="838200"/>
            <a:ext cx="8229600" cy="655638"/>
          </a:xfrm>
        </p:spPr>
        <p:txBody>
          <a:bodyPr>
            <a:noAutofit/>
          </a:bodyPr>
          <a:lstStyle>
            <a:lvl1pPr algn="l">
              <a:defRPr sz="3600" b="1">
                <a:solidFill>
                  <a:schemeClr val="tx1">
                    <a:lumMod val="75000"/>
                    <a:lumOff val="25000"/>
                  </a:schemeClr>
                </a:solidFill>
                <a:latin typeface="Tahoma" pitchFamily="34" charset="0"/>
                <a:ea typeface="Tahoma" pitchFamily="34" charset="0"/>
                <a:cs typeface="Tahoma" pitchFamily="34" charset="0"/>
              </a:defRPr>
            </a:lvl1pPr>
          </a:lstStyle>
          <a:p>
            <a:r>
              <a:rPr lang="en-US"/>
              <a:t>Click to edit Master title style</a:t>
            </a:r>
            <a:endParaRPr lang="en-US" dirty="0"/>
          </a:p>
        </p:txBody>
      </p:sp>
      <p:pic>
        <p:nvPicPr>
          <p:cNvPr id="2097159" name="Picture 7"/>
          <p:cNvPicPr>
            <a:picLocks noChangeAspect="1"/>
          </p:cNvPicPr>
          <p:nvPr userDrawn="1"/>
        </p:nvPicPr>
        <p:blipFill>
          <a:blip r:embed="rId2"/>
          <a:stretch>
            <a:fillRect/>
          </a:stretch>
        </p:blipFill>
        <p:spPr>
          <a:xfrm>
            <a:off x="0" y="0"/>
            <a:ext cx="9144000" cy="68275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74" name="Text Placeholder 2"/>
          <p:cNvSpPr>
            <a:spLocks noGrp="1"/>
          </p:cNvSpPr>
          <p:nvPr>
            <p:ph type="body" idx="1"/>
          </p:nvPr>
        </p:nvSpPr>
        <p:spPr>
          <a:xfrm>
            <a:off x="457200" y="1676400"/>
            <a:ext cx="4040188" cy="762000"/>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5" name="Content Placeholder 3"/>
          <p:cNvSpPr>
            <a:spLocks noGrp="1"/>
          </p:cNvSpPr>
          <p:nvPr>
            <p:ph sz="half" idx="2"/>
          </p:nvPr>
        </p:nvSpPr>
        <p:spPr>
          <a:xfrm>
            <a:off x="457200" y="2576863"/>
            <a:ext cx="4040188" cy="3549299"/>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76" name="Text Placeholder 4"/>
          <p:cNvSpPr>
            <a:spLocks noGrp="1"/>
          </p:cNvSpPr>
          <p:nvPr>
            <p:ph type="body" sz="quarter" idx="3"/>
          </p:nvPr>
        </p:nvSpPr>
        <p:spPr>
          <a:xfrm>
            <a:off x="4642456" y="1676400"/>
            <a:ext cx="4041775" cy="762000"/>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7" name="Content Placeholder 5"/>
          <p:cNvSpPr>
            <a:spLocks noGrp="1"/>
          </p:cNvSpPr>
          <p:nvPr>
            <p:ph sz="quarter" idx="4"/>
          </p:nvPr>
        </p:nvSpPr>
        <p:spPr>
          <a:xfrm>
            <a:off x="4645025" y="2576863"/>
            <a:ext cx="4041775" cy="3549299"/>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78" name="Date Placeholder 6"/>
          <p:cNvSpPr>
            <a:spLocks noGrp="1"/>
          </p:cNvSpPr>
          <p:nvPr>
            <p:ph type="dt" sz="half" idx="10"/>
          </p:nvPr>
        </p:nvSpPr>
        <p:spPr/>
        <p:txBody>
          <a:bodyPr/>
          <a:lstStyle/>
          <a:p>
            <a:fld id="{925499B0-AC12-43A0-BF37-08DAF64E0A6D}" type="datetime1">
              <a:rPr lang="en-US" smtClean="0"/>
              <a:t>7/9/2026</a:t>
            </a:fld>
            <a:endParaRPr lang="en-US"/>
          </a:p>
        </p:txBody>
      </p:sp>
      <p:sp>
        <p:nvSpPr>
          <p:cNvPr id="1048679" name="Footer Placeholder 7"/>
          <p:cNvSpPr>
            <a:spLocks noGrp="1"/>
          </p:cNvSpPr>
          <p:nvPr>
            <p:ph type="ftr" sz="quarter" idx="11"/>
          </p:nvPr>
        </p:nvSpPr>
        <p:spPr/>
        <p:txBody>
          <a:bodyPr/>
          <a:lstStyle/>
          <a:p>
            <a:endParaRPr lang="en-US"/>
          </a:p>
        </p:txBody>
      </p:sp>
      <p:sp>
        <p:nvSpPr>
          <p:cNvPr id="1048680" name="Slide Number Placeholder 8"/>
          <p:cNvSpPr>
            <a:spLocks noGrp="1"/>
          </p:cNvSpPr>
          <p:nvPr>
            <p:ph type="sldNum" sz="quarter" idx="12"/>
          </p:nvPr>
        </p:nvSpPr>
        <p:spPr/>
        <p:txBody>
          <a:bodyPr/>
          <a:lstStyle/>
          <a:p>
            <a:fld id="{B6F15528-21DE-4FAA-801E-634DDDAF4B2B}" type="slidenum">
              <a:rPr lang="en-US" smtClean="0"/>
              <a:t>‹#›</a:t>
            </a:fld>
            <a:endParaRPr lang="en-US"/>
          </a:p>
        </p:txBody>
      </p:sp>
      <p:sp>
        <p:nvSpPr>
          <p:cNvPr id="1048681" name="Title 1"/>
          <p:cNvSpPr>
            <a:spLocks noGrp="1"/>
          </p:cNvSpPr>
          <p:nvPr>
            <p:ph type="title"/>
          </p:nvPr>
        </p:nvSpPr>
        <p:spPr>
          <a:xfrm>
            <a:off x="457200" y="838200"/>
            <a:ext cx="8229600" cy="655638"/>
          </a:xfrm>
        </p:spPr>
        <p:txBody>
          <a:bodyPr>
            <a:noAutofit/>
          </a:bodyPr>
          <a:lstStyle>
            <a:lvl1pPr algn="l">
              <a:defRPr sz="3600" b="1">
                <a:solidFill>
                  <a:schemeClr val="tx1">
                    <a:lumMod val="75000"/>
                    <a:lumOff val="25000"/>
                  </a:schemeClr>
                </a:solidFill>
                <a:latin typeface="Tahoma" pitchFamily="34" charset="0"/>
                <a:ea typeface="Tahoma" pitchFamily="34" charset="0"/>
                <a:cs typeface="Tahoma" pitchFamily="34" charset="0"/>
              </a:defRPr>
            </a:lvl1pPr>
          </a:lstStyle>
          <a:p>
            <a:r>
              <a:rPr lang="en-US"/>
              <a:t>Click to edit Master title style</a:t>
            </a:r>
            <a:endParaRPr lang="en-US" dirty="0"/>
          </a:p>
        </p:txBody>
      </p:sp>
      <p:pic>
        <p:nvPicPr>
          <p:cNvPr id="2097160" name="Picture 9"/>
          <p:cNvPicPr>
            <a:picLocks noChangeAspect="1"/>
          </p:cNvPicPr>
          <p:nvPr userDrawn="1"/>
        </p:nvPicPr>
        <p:blipFill>
          <a:blip r:embed="rId2"/>
          <a:stretch>
            <a:fillRect/>
          </a:stretch>
        </p:blipFill>
        <p:spPr>
          <a:xfrm>
            <a:off x="0" y="-20187"/>
            <a:ext cx="9144000" cy="68275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9" name="Title 1"/>
          <p:cNvSpPr>
            <a:spLocks noGrp="1"/>
          </p:cNvSpPr>
          <p:nvPr>
            <p:ph type="title"/>
          </p:nvPr>
        </p:nvSpPr>
        <p:spPr>
          <a:xfrm>
            <a:off x="457200" y="838200"/>
            <a:ext cx="8229600" cy="1143000"/>
          </a:xfrm>
        </p:spPr>
        <p:txBody>
          <a:bodyPr>
            <a:normAutofit/>
          </a:bodyPr>
          <a:lstStyle>
            <a:lvl1pPr>
              <a:defRPr sz="4200" b="1">
                <a:solidFill>
                  <a:schemeClr val="tx1">
                    <a:lumMod val="75000"/>
                    <a:lumOff val="25000"/>
                  </a:schemeClr>
                </a:solidFill>
                <a:latin typeface="Tahoma" pitchFamily="34" charset="0"/>
                <a:ea typeface="Tahoma" pitchFamily="34" charset="0"/>
                <a:cs typeface="Tahoma" pitchFamily="34" charset="0"/>
              </a:defRPr>
            </a:lvl1pPr>
          </a:lstStyle>
          <a:p>
            <a:r>
              <a:rPr lang="en-US"/>
              <a:t>Click to edit Master title style</a:t>
            </a:r>
            <a:endParaRPr lang="en-US" dirty="0"/>
          </a:p>
        </p:txBody>
      </p:sp>
      <p:sp>
        <p:nvSpPr>
          <p:cNvPr id="1048660" name="Date Placeholder 2"/>
          <p:cNvSpPr>
            <a:spLocks noGrp="1"/>
          </p:cNvSpPr>
          <p:nvPr>
            <p:ph type="dt" sz="half" idx="10"/>
          </p:nvPr>
        </p:nvSpPr>
        <p:spPr/>
        <p:txBody>
          <a:bodyPr/>
          <a:lstStyle/>
          <a:p>
            <a:fld id="{225FA499-4AF1-4DEF-BFF1-372D652F227E}" type="datetime1">
              <a:rPr lang="en-US" smtClean="0"/>
              <a:t>7/9/2026</a:t>
            </a:fld>
            <a:endParaRPr lang="en-US"/>
          </a:p>
        </p:txBody>
      </p:sp>
      <p:sp>
        <p:nvSpPr>
          <p:cNvPr id="1048661" name="Footer Placeholder 3"/>
          <p:cNvSpPr>
            <a:spLocks noGrp="1"/>
          </p:cNvSpPr>
          <p:nvPr>
            <p:ph type="ftr" sz="quarter" idx="11"/>
          </p:nvPr>
        </p:nvSpPr>
        <p:spPr/>
        <p:txBody>
          <a:bodyPr/>
          <a:lstStyle/>
          <a:p>
            <a:endParaRPr lang="en-US"/>
          </a:p>
        </p:txBody>
      </p:sp>
      <p:sp>
        <p:nvSpPr>
          <p:cNvPr id="1048662" name="Slide Number Placeholder 4"/>
          <p:cNvSpPr>
            <a:spLocks noGrp="1"/>
          </p:cNvSpPr>
          <p:nvPr>
            <p:ph type="sldNum" sz="quarter" idx="12"/>
          </p:nvPr>
        </p:nvSpPr>
        <p:spPr/>
        <p:txBody>
          <a:bodyPr/>
          <a:lstStyle/>
          <a:p>
            <a:fld id="{B6F15528-21DE-4FAA-801E-634DDDAF4B2B}" type="slidenum">
              <a:rPr lang="en-US" smtClean="0"/>
              <a:t>‹#›</a:t>
            </a:fld>
            <a:endParaRPr lang="en-US"/>
          </a:p>
        </p:txBody>
      </p:sp>
      <p:pic>
        <p:nvPicPr>
          <p:cNvPr id="2097156" name="Picture 5"/>
          <p:cNvPicPr>
            <a:picLocks noChangeAspect="1"/>
          </p:cNvPicPr>
          <p:nvPr userDrawn="1"/>
        </p:nvPicPr>
        <p:blipFill>
          <a:blip r:embed="rId2"/>
          <a:stretch>
            <a:fillRect/>
          </a:stretch>
        </p:blipFill>
        <p:spPr>
          <a:xfrm>
            <a:off x="0" y="0"/>
            <a:ext cx="9144000" cy="68275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82" name="Title 1"/>
          <p:cNvSpPr>
            <a:spLocks noGrp="1"/>
          </p:cNvSpPr>
          <p:nvPr>
            <p:ph type="title"/>
          </p:nvPr>
        </p:nvSpPr>
        <p:spPr>
          <a:xfrm>
            <a:off x="457200" y="838200"/>
            <a:ext cx="3008313" cy="990600"/>
          </a:xfrm>
        </p:spPr>
        <p:txBody>
          <a:bodyPr anchor="b"/>
          <a:lstStyle>
            <a:lvl1pPr algn="l">
              <a:defRPr sz="2000" b="1"/>
            </a:lvl1pPr>
          </a:lstStyle>
          <a:p>
            <a:r>
              <a:rPr lang="en-US"/>
              <a:t>Click to edit Master title style</a:t>
            </a:r>
          </a:p>
        </p:txBody>
      </p:sp>
      <p:sp>
        <p:nvSpPr>
          <p:cNvPr id="1048683" name="Content Placeholder 2"/>
          <p:cNvSpPr>
            <a:spLocks noGrp="1"/>
          </p:cNvSpPr>
          <p:nvPr>
            <p:ph idx="1"/>
          </p:nvPr>
        </p:nvSpPr>
        <p:spPr>
          <a:xfrm>
            <a:off x="3575050" y="838200"/>
            <a:ext cx="5111750" cy="5287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84" name="Text Placeholder 3"/>
          <p:cNvSpPr>
            <a:spLocks noGrp="1"/>
          </p:cNvSpPr>
          <p:nvPr>
            <p:ph type="body" sz="half" idx="2"/>
          </p:nvPr>
        </p:nvSpPr>
        <p:spPr>
          <a:xfrm>
            <a:off x="457200" y="1828800"/>
            <a:ext cx="3008313" cy="42973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85" name="Date Placeholder 4"/>
          <p:cNvSpPr>
            <a:spLocks noGrp="1"/>
          </p:cNvSpPr>
          <p:nvPr>
            <p:ph type="dt" sz="half" idx="10"/>
          </p:nvPr>
        </p:nvSpPr>
        <p:spPr/>
        <p:txBody>
          <a:bodyPr/>
          <a:lstStyle/>
          <a:p>
            <a:fld id="{1B2E4BAE-5292-466A-97C7-A0FBF91EB181}" type="datetime1">
              <a:rPr lang="en-US" smtClean="0"/>
              <a:t>7/9/2026</a:t>
            </a:fld>
            <a:endParaRPr lang="en-US"/>
          </a:p>
        </p:txBody>
      </p:sp>
      <p:sp>
        <p:nvSpPr>
          <p:cNvPr id="1048686" name="Footer Placeholder 5"/>
          <p:cNvSpPr>
            <a:spLocks noGrp="1"/>
          </p:cNvSpPr>
          <p:nvPr>
            <p:ph type="ftr" sz="quarter" idx="11"/>
          </p:nvPr>
        </p:nvSpPr>
        <p:spPr/>
        <p:txBody>
          <a:bodyPr/>
          <a:lstStyle/>
          <a:p>
            <a:endParaRPr lang="en-US"/>
          </a:p>
        </p:txBody>
      </p:sp>
      <p:sp>
        <p:nvSpPr>
          <p:cNvPr id="1048687" name="Slide Number Placeholder 6"/>
          <p:cNvSpPr>
            <a:spLocks noGrp="1"/>
          </p:cNvSpPr>
          <p:nvPr>
            <p:ph type="sldNum" sz="quarter" idx="12"/>
          </p:nvPr>
        </p:nvSpPr>
        <p:spPr/>
        <p:txBody>
          <a:bodyPr/>
          <a:lstStyle/>
          <a:p>
            <a:fld id="{B6F15528-21DE-4FAA-801E-634DDDAF4B2B}" type="slidenum">
              <a:rPr lang="en-US" smtClean="0"/>
              <a:t>‹#›</a:t>
            </a:fld>
            <a:endParaRPr lang="en-US"/>
          </a:p>
        </p:txBody>
      </p:sp>
      <p:pic>
        <p:nvPicPr>
          <p:cNvPr id="2097161" name="Picture 8"/>
          <p:cNvPicPr>
            <a:picLocks noChangeAspect="1"/>
          </p:cNvPicPr>
          <p:nvPr userDrawn="1"/>
        </p:nvPicPr>
        <p:blipFill>
          <a:blip r:embed="rId2"/>
          <a:stretch>
            <a:fillRect/>
          </a:stretch>
        </p:blipFill>
        <p:spPr>
          <a:xfrm>
            <a:off x="0" y="0"/>
            <a:ext cx="9144000" cy="68275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89" name="Picture Placeholder 2"/>
          <p:cNvSpPr>
            <a:spLocks noGrp="1"/>
          </p:cNvSpPr>
          <p:nvPr>
            <p:ph type="pic" idx="1"/>
          </p:nvPr>
        </p:nvSpPr>
        <p:spPr>
          <a:xfrm>
            <a:off x="1792288" y="838199"/>
            <a:ext cx="5486400" cy="38893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04869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91" name="Date Placeholder 4"/>
          <p:cNvSpPr>
            <a:spLocks noGrp="1"/>
          </p:cNvSpPr>
          <p:nvPr>
            <p:ph type="dt" sz="half" idx="10"/>
          </p:nvPr>
        </p:nvSpPr>
        <p:spPr/>
        <p:txBody>
          <a:bodyPr/>
          <a:lstStyle/>
          <a:p>
            <a:fld id="{1D1CBEA0-B554-4DDA-926D-E6FF274AC015}" type="datetime1">
              <a:rPr lang="en-US" smtClean="0"/>
              <a:t>7/9/2026</a:t>
            </a:fld>
            <a:endParaRPr lang="en-US"/>
          </a:p>
        </p:txBody>
      </p:sp>
      <p:sp>
        <p:nvSpPr>
          <p:cNvPr id="1048692" name="Footer Placeholder 5"/>
          <p:cNvSpPr>
            <a:spLocks noGrp="1"/>
          </p:cNvSpPr>
          <p:nvPr>
            <p:ph type="ftr" sz="quarter" idx="11"/>
          </p:nvPr>
        </p:nvSpPr>
        <p:spPr/>
        <p:txBody>
          <a:bodyPr/>
          <a:lstStyle/>
          <a:p>
            <a:endParaRPr lang="en-US"/>
          </a:p>
        </p:txBody>
      </p:sp>
      <p:sp>
        <p:nvSpPr>
          <p:cNvPr id="1048693" name="Slide Number Placeholder 6"/>
          <p:cNvSpPr>
            <a:spLocks noGrp="1"/>
          </p:cNvSpPr>
          <p:nvPr>
            <p:ph type="sldNum" sz="quarter" idx="12"/>
          </p:nvPr>
        </p:nvSpPr>
        <p:spPr/>
        <p:txBody>
          <a:bodyPr/>
          <a:lstStyle/>
          <a:p>
            <a:fld id="{B6F15528-21DE-4FAA-801E-634DDDAF4B2B}" type="slidenum">
              <a:rPr lang="en-US" smtClean="0"/>
              <a:t>‹#›</a:t>
            </a:fld>
            <a:endParaRPr lang="en-US"/>
          </a:p>
        </p:txBody>
      </p:sp>
      <p:pic>
        <p:nvPicPr>
          <p:cNvPr id="2097162" name="Picture 8"/>
          <p:cNvPicPr>
            <a:picLocks noChangeAspect="1"/>
          </p:cNvPicPr>
          <p:nvPr userDrawn="1"/>
        </p:nvPicPr>
        <p:blipFill>
          <a:blip r:embed="rId2"/>
          <a:stretch>
            <a:fillRect/>
          </a:stretch>
        </p:blipFill>
        <p:spPr>
          <a:xfrm>
            <a:off x="0" y="0"/>
            <a:ext cx="9144000" cy="68275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54" name="Date Placeholder 1"/>
          <p:cNvSpPr>
            <a:spLocks noGrp="1"/>
          </p:cNvSpPr>
          <p:nvPr>
            <p:ph type="dt" sz="half" idx="10"/>
          </p:nvPr>
        </p:nvSpPr>
        <p:spPr/>
        <p:txBody>
          <a:bodyPr/>
          <a:lstStyle/>
          <a:p>
            <a:fld id="{28F8B068-1D8C-49D7-B19D-5D39AD9068F3}" type="datetime1">
              <a:rPr lang="en-US" smtClean="0"/>
              <a:t>7/9/2026</a:t>
            </a:fld>
            <a:endParaRPr lang="en-US"/>
          </a:p>
        </p:txBody>
      </p:sp>
      <p:sp>
        <p:nvSpPr>
          <p:cNvPr id="1048655" name="Footer Placeholder 2"/>
          <p:cNvSpPr>
            <a:spLocks noGrp="1"/>
          </p:cNvSpPr>
          <p:nvPr>
            <p:ph type="ftr" sz="quarter" idx="11"/>
          </p:nvPr>
        </p:nvSpPr>
        <p:spPr/>
        <p:txBody>
          <a:bodyPr/>
          <a:lstStyle/>
          <a:p>
            <a:endParaRPr lang="en-US"/>
          </a:p>
        </p:txBody>
      </p:sp>
      <p:sp>
        <p:nvSpPr>
          <p:cNvPr id="1048656"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57F44D-9351-4BB7-BF74-3B58C5D970E7}" type="datetime1">
              <a:rPr lang="en-US" smtClean="0"/>
              <a:t>7/9/2026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lvl1pPr algn="ctr" defTabSz="914400" rtl="0" eaLnBrk="1" latinLnBrk="0" hangingPunct="1">
        <a:spcBef>
          <a:spcPct val="0"/>
        </a:spcBef>
        <a:buNone/>
        <a:defRPr sz="4400" kern="1200">
          <a:solidFill>
            <a:schemeClr val="tx1"/>
          </a:solidFill>
          <a:latin typeface="Tahoma" pitchFamily="34" charset="0"/>
          <a:ea typeface="Tahoma" pitchFamily="34" charset="0"/>
          <a:cs typeface="Tahoma"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Slide Number Placeholder 1"/>
          <p:cNvSpPr>
            <a:spLocks noGrp="1"/>
          </p:cNvSpPr>
          <p:nvPr>
            <p:ph type="sldNum" sz="quarter" idx="12"/>
          </p:nvPr>
        </p:nvSpPr>
        <p:spPr/>
        <p:txBody>
          <a:bodyPr/>
          <a:lstStyle/>
          <a:p>
            <a:fld id="{B6F15528-21DE-4FAA-801E-634DDDAF4B2B}" type="slidenum">
              <a:rPr lang="en-US" smtClean="0"/>
              <a:t>1</a:t>
            </a:fld>
            <a:endParaRPr lang="en-US"/>
          </a:p>
        </p:txBody>
      </p:sp>
      <p:sp>
        <p:nvSpPr>
          <p:cNvPr id="1048592" name="Title 4"/>
          <p:cNvSpPr>
            <a:spLocks noGrp="1"/>
          </p:cNvSpPr>
          <p:nvPr>
            <p:ph type="ctrTitle"/>
          </p:nvPr>
        </p:nvSpPr>
        <p:spPr>
          <a:xfrm>
            <a:off x="3429000" y="381000"/>
            <a:ext cx="5486400" cy="4800600"/>
          </a:xfrm>
        </p:spPr>
        <p:txBody>
          <a:bodyPr/>
          <a:lstStyle/>
          <a:p>
            <a:pPr algn="ctr">
              <a:spcAft>
                <a:spcPts val="500"/>
              </a:spcAft>
            </a:pPr>
            <a:r>
              <a:rPr lang="en-US" sz="3000" b="1" dirty="0" err="1">
                <a:effectLst/>
                <a:latin typeface="Arial" panose="020B0604020202020204" pitchFamily="34" charset="0"/>
                <a:ea typeface="Times New Roman" panose="02020603050405020304" pitchFamily="18" charset="0"/>
              </a:rPr>
              <a:t>VisionPool</a:t>
            </a:r>
            <a:r>
              <a:rPr lang="en-US" sz="3000" b="1" dirty="0">
                <a:effectLst/>
                <a:latin typeface="Arial" panose="020B0604020202020204" pitchFamily="34" charset="0"/>
                <a:ea typeface="Times New Roman" panose="02020603050405020304" pitchFamily="18" charset="0"/>
              </a:rPr>
              <a:t>: A Real-Time Pool Rule Compliance Monitoring System</a:t>
            </a:r>
            <a:br>
              <a:rPr lang="en-PH" sz="3000" dirty="0">
                <a:effectLst/>
                <a:latin typeface="Times New Roman" panose="02020603050405020304" pitchFamily="18" charset="0"/>
                <a:ea typeface="Times New Roman" panose="02020603050405020304" pitchFamily="18" charset="0"/>
              </a:rPr>
            </a:br>
            <a:r>
              <a:rPr lang="en-US" sz="3000" b="1" dirty="0">
                <a:effectLst/>
                <a:latin typeface="Arial" panose="020B0604020202020204" pitchFamily="34" charset="0"/>
                <a:ea typeface="Times New Roman" panose="02020603050405020304" pitchFamily="18" charset="0"/>
              </a:rPr>
              <a:t>Using Object Detection and Automated Flagging for</a:t>
            </a:r>
            <a:r>
              <a:rPr lang="en-US" altLang="en-GB" sz="3000" b="1" dirty="0">
                <a:effectLst/>
                <a:latin typeface="Arial" panose="020B0604020202020204" pitchFamily="34" charset="0"/>
                <a:ea typeface="Times New Roman" panose="02020603050405020304" pitchFamily="18" charset="0"/>
              </a:rPr>
              <a:t> </a:t>
            </a:r>
            <a:r>
              <a:rPr lang="en-US" sz="3000" b="1" dirty="0">
                <a:effectLst/>
                <a:latin typeface="Arial" panose="020B0604020202020204" pitchFamily="34" charset="0"/>
                <a:ea typeface="Times New Roman" panose="02020603050405020304" pitchFamily="18" charset="0"/>
              </a:rPr>
              <a:t>Administrative Oversight</a:t>
            </a:r>
            <a:br>
              <a:rPr lang="en-US" dirty="0"/>
            </a:br>
            <a:endParaRPr lang="en-US" sz="4800" i="1" dirty="0">
              <a:solidFill>
                <a:schemeClr val="accent1">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extBox 4"/>
          <p:cNvSpPr txBox="1"/>
          <p:nvPr/>
        </p:nvSpPr>
        <p:spPr>
          <a:xfrm>
            <a:off x="0" y="152400"/>
            <a:ext cx="9144000" cy="849421"/>
          </a:xfrm>
          <a:prstGeom prst="rect">
            <a:avLst/>
          </a:prstGeom>
          <a:noFill/>
        </p:spPr>
        <p:txBody>
          <a:bodyPr wrap="square" lIns="182854" tIns="146283" rIns="182854" bIns="146283" rtlCol="0">
            <a:spAutoFit/>
          </a:bodyPr>
          <a:lstStyle/>
          <a:p>
            <a:r>
              <a:rPr lang="en-US" sz="3600" b="1" dirty="0">
                <a:solidFill>
                  <a:schemeClr val="bg1"/>
                </a:solidFill>
                <a:effectLst>
                  <a:glow rad="228600">
                    <a:schemeClr val="accent1">
                      <a:satMod val="175000"/>
                      <a:alpha val="40000"/>
                    </a:schemeClr>
                  </a:glow>
                  <a:outerShdw blurRad="50800" dist="38100" algn="l" rotWithShape="0">
                    <a:prstClr val="black">
                      <a:alpha val="40000"/>
                    </a:prstClr>
                  </a:outerShdw>
                  <a:reflection blurRad="6350" stA="55000" endA="300" endPos="45500" dir="5400000" sy="-100000" algn="bl" rotWithShape="0"/>
                </a:effectLst>
                <a:latin typeface="Arial" panose="020B0604020202020204" pitchFamily="34" charset="0"/>
                <a:cs typeface="Arial" panose="020B0604020202020204" pitchFamily="34" charset="0"/>
              </a:rPr>
              <a:t>Research Proposal</a:t>
            </a:r>
          </a:p>
        </p:txBody>
      </p:sp>
      <p:sp>
        <p:nvSpPr>
          <p:cNvPr id="1048599" name="Slide Number Placeholder 3"/>
          <p:cNvSpPr>
            <a:spLocks noGrp="1"/>
          </p:cNvSpPr>
          <p:nvPr>
            <p:ph type="sldNum" sz="quarter" idx="12"/>
          </p:nvPr>
        </p:nvSpPr>
        <p:spPr/>
        <p:txBody>
          <a:bodyPr/>
          <a:lstStyle/>
          <a:p>
            <a:fld id="{B6F15528-21DE-4FAA-801E-634DDDAF4B2B}" type="slidenum">
              <a:rPr lang="en-US" smtClean="0"/>
              <a:t>2</a:t>
            </a:fld>
            <a:endParaRPr lang="en-US" dirty="0"/>
          </a:p>
        </p:txBody>
      </p:sp>
      <p:sp>
        <p:nvSpPr>
          <p:cNvPr id="1048600" name="TextBox 5"/>
          <p:cNvSpPr txBox="1"/>
          <p:nvPr/>
        </p:nvSpPr>
        <p:spPr>
          <a:xfrm>
            <a:off x="76200" y="1219200"/>
            <a:ext cx="8991600" cy="664755"/>
          </a:xfrm>
          <a:prstGeom prst="rect">
            <a:avLst/>
          </a:prstGeom>
          <a:noFill/>
        </p:spPr>
        <p:txBody>
          <a:bodyPr wrap="square" lIns="182854" tIns="146283" rIns="182854" bIns="146283" rtlCol="0">
            <a:spAutoFit/>
          </a:bodyPr>
          <a:lstStyle/>
          <a:p>
            <a:r>
              <a:rPr lang="en-US" sz="2400" dirty="0">
                <a:latin typeface="Calibri Light" panose="020F0302020204030204" pitchFamily="34" charset="0"/>
                <a:cs typeface="Calibri Light" panose="020F0302020204030204" pitchFamily="34" charset="0"/>
              </a:rPr>
              <a:t>	</a:t>
            </a:r>
            <a:endParaRPr lang="en-US" sz="2400" b="1" i="1" dirty="0">
              <a:latin typeface="Calibri Light" panose="020F0302020204030204" pitchFamily="34" charset="0"/>
              <a:cs typeface="Calibri Light" panose="020F0302020204030204" pitchFamily="34" charset="0"/>
            </a:endParaRPr>
          </a:p>
        </p:txBody>
      </p:sp>
      <p:sp>
        <p:nvSpPr>
          <p:cNvPr id="1048601" name="TextBox 6"/>
          <p:cNvSpPr txBox="1"/>
          <p:nvPr/>
        </p:nvSpPr>
        <p:spPr>
          <a:xfrm>
            <a:off x="76200" y="1219200"/>
            <a:ext cx="8991600" cy="7493466"/>
          </a:xfrm>
          <a:prstGeom prst="rect">
            <a:avLst/>
          </a:prstGeom>
          <a:noFill/>
        </p:spPr>
        <p:txBody>
          <a:bodyPr wrap="square" lIns="182854" tIns="146283" rIns="182854" bIns="146283" rtlCol="0">
            <a:spAutoFit/>
          </a:bodyPr>
          <a:lstStyle/>
          <a:p>
            <a:r>
              <a:rPr lang="en-US" sz="3600" b="1" dirty="0"/>
              <a:t>Project Context</a:t>
            </a:r>
          </a:p>
          <a:p>
            <a:r>
              <a:rPr lang="en-US" sz="1800" dirty="0">
                <a:effectLst/>
                <a:latin typeface="Arial" panose="020B0604020202020204" pitchFamily="34" charset="0"/>
                <a:ea typeface="Times New Roman" panose="02020603050405020304" pitchFamily="18" charset="0"/>
              </a:rPr>
              <a:t>Despite the importance of consistent rule enforcement, most pool facilities continue to rely on manual monitoring by lifeguards and pool attendants. This approach is inherently limited by human attention span, staffing levels, and the physical constraints of monitoring expansive pool areas during peak hours when patron density is highest. Violations frequently go unnoticed or are addressed inconsistently, leading to potential safety hazards and disputes between patrons and staff.</a:t>
            </a:r>
            <a:endParaRPr lang="en-PH" sz="1800" dirty="0">
              <a:effectLst/>
              <a:latin typeface="Times New Roman" panose="02020603050405020304" pitchFamily="18" charset="0"/>
              <a:ea typeface="Times New Roman" panose="02020603050405020304" pitchFamily="18" charset="0"/>
            </a:endParaRPr>
          </a:p>
          <a:p>
            <a:endParaRPr lang="en-US" sz="3600" b="1" dirty="0"/>
          </a:p>
          <a:p>
            <a:r>
              <a:rPr lang="en-US" sz="1800" dirty="0" err="1">
                <a:effectLst/>
                <a:latin typeface="Arial" panose="020B0604020202020204" pitchFamily="34" charset="0"/>
                <a:ea typeface="Times New Roman" panose="02020603050405020304" pitchFamily="18" charset="0"/>
              </a:rPr>
              <a:t>VisionPool</a:t>
            </a:r>
            <a:r>
              <a:rPr lang="en-US" sz="1800" dirty="0">
                <a:effectLst/>
                <a:latin typeface="Arial" panose="020B0604020202020204" pitchFamily="34" charset="0"/>
                <a:ea typeface="Times New Roman" panose="02020603050405020304" pitchFamily="18" charset="0"/>
              </a:rPr>
              <a:t> is proposed as a direct response to the operational limitations of manual pool rule enforcement. By deploying a YOLOv8-based detection pipeline connected to a Tapo IP camera and a Django-powered administrative dashboard, </a:t>
            </a:r>
            <a:r>
              <a:rPr lang="en-US" sz="1800" dirty="0" err="1">
                <a:effectLst/>
                <a:latin typeface="Arial" panose="020B0604020202020204" pitchFamily="34" charset="0"/>
                <a:ea typeface="Times New Roman" panose="02020603050405020304" pitchFamily="18" charset="0"/>
              </a:rPr>
              <a:t>VisionPool</a:t>
            </a:r>
            <a:r>
              <a:rPr lang="en-US" sz="1800" dirty="0">
                <a:effectLst/>
                <a:latin typeface="Arial" panose="020B0604020202020204" pitchFamily="34" charset="0"/>
                <a:ea typeface="Times New Roman" panose="02020603050405020304" pitchFamily="18" charset="0"/>
              </a:rPr>
              <a:t> aims to provide pool management staff with a reliable, data-driven tool for real-time rule compliance monitoring, automated violation flagging, and incident documentation.</a:t>
            </a:r>
            <a:endParaRPr lang="en-PH" sz="1800" dirty="0">
              <a:effectLst/>
              <a:latin typeface="Times New Roman" panose="02020603050405020304" pitchFamily="18" charset="0"/>
              <a:ea typeface="Times New Roman" panose="02020603050405020304" pitchFamily="18" charset="0"/>
            </a:endParaRPr>
          </a:p>
          <a:p>
            <a:endParaRPr lang="en-US" sz="3600" b="1" dirty="0"/>
          </a:p>
          <a:p>
            <a:endParaRPr lang="en-US" sz="3600" b="1" dirty="0"/>
          </a:p>
          <a:p>
            <a:endParaRPr lang="en-US" sz="3600" b="1" dirty="0"/>
          </a:p>
          <a:p>
            <a:endParaRPr lang="en-US" sz="3600" b="1" dirty="0"/>
          </a:p>
          <a:p>
            <a:endParaRPr lang="en-US" sz="3600" b="1" dirty="0"/>
          </a:p>
          <a:p>
            <a:endParaRPr lang="en-US" sz="36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
          <p:cNvSpPr txBox="1"/>
          <p:nvPr/>
        </p:nvSpPr>
        <p:spPr>
          <a:xfrm>
            <a:off x="0" y="152400"/>
            <a:ext cx="9144000" cy="849421"/>
          </a:xfrm>
          <a:prstGeom prst="rect">
            <a:avLst/>
          </a:prstGeom>
          <a:noFill/>
        </p:spPr>
        <p:txBody>
          <a:bodyPr wrap="square" lIns="182854" tIns="146283" rIns="182854" bIns="146283" rtlCol="0">
            <a:spAutoFit/>
          </a:bodyPr>
          <a:lstStyle/>
          <a:p>
            <a:r>
              <a:rPr lang="en-US" sz="3600" b="1" dirty="0">
                <a:solidFill>
                  <a:schemeClr val="bg1"/>
                </a:solidFill>
                <a:effectLst>
                  <a:glow rad="228600">
                    <a:schemeClr val="accent1">
                      <a:satMod val="175000"/>
                      <a:alpha val="40000"/>
                    </a:schemeClr>
                  </a:glow>
                  <a:outerShdw blurRad="50800" dist="38100" algn="l" rotWithShape="0">
                    <a:prstClr val="black">
                      <a:alpha val="40000"/>
                    </a:prstClr>
                  </a:outerShdw>
                  <a:reflection blurRad="6350" stA="55000" endA="300" endPos="45500" dir="5400000" sy="-100000" algn="bl" rotWithShape="0"/>
                </a:effectLst>
                <a:latin typeface="Arial" panose="020B0604020202020204" pitchFamily="34" charset="0"/>
                <a:cs typeface="Arial" panose="020B0604020202020204" pitchFamily="34" charset="0"/>
              </a:rPr>
              <a:t>Research Proposal</a:t>
            </a:r>
          </a:p>
        </p:txBody>
      </p:sp>
      <p:sp>
        <p:nvSpPr>
          <p:cNvPr id="1048606" name="Slide Number Placeholder 3"/>
          <p:cNvSpPr>
            <a:spLocks noGrp="1"/>
          </p:cNvSpPr>
          <p:nvPr>
            <p:ph type="sldNum" sz="quarter" idx="12"/>
          </p:nvPr>
        </p:nvSpPr>
        <p:spPr/>
        <p:txBody>
          <a:bodyPr/>
          <a:lstStyle/>
          <a:p>
            <a:fld id="{B6F15528-21DE-4FAA-801E-634DDDAF4B2B}" type="slidenum">
              <a:rPr lang="en-US" smtClean="0"/>
              <a:t>3</a:t>
            </a:fld>
            <a:endParaRPr lang="en-US" dirty="0"/>
          </a:p>
        </p:txBody>
      </p:sp>
      <p:sp>
        <p:nvSpPr>
          <p:cNvPr id="1048607" name="TextBox 5"/>
          <p:cNvSpPr txBox="1"/>
          <p:nvPr/>
        </p:nvSpPr>
        <p:spPr>
          <a:xfrm>
            <a:off x="76200" y="1219200"/>
            <a:ext cx="8991600" cy="664755"/>
          </a:xfrm>
          <a:prstGeom prst="rect">
            <a:avLst/>
          </a:prstGeom>
          <a:noFill/>
        </p:spPr>
        <p:txBody>
          <a:bodyPr wrap="square" lIns="182854" tIns="146283" rIns="182854" bIns="146283" rtlCol="0">
            <a:spAutoFit/>
          </a:bodyPr>
          <a:lstStyle/>
          <a:p>
            <a:r>
              <a:rPr lang="en-US" sz="2400" dirty="0">
                <a:latin typeface="Calibri Light" panose="020F0302020204030204" pitchFamily="34" charset="0"/>
                <a:cs typeface="Calibri Light" panose="020F0302020204030204" pitchFamily="34" charset="0"/>
              </a:rPr>
              <a:t>	</a:t>
            </a:r>
            <a:endParaRPr lang="en-US" sz="2400" b="1" i="1" dirty="0">
              <a:latin typeface="Calibri Light" panose="020F0302020204030204" pitchFamily="34" charset="0"/>
              <a:cs typeface="Calibri Light" panose="020F0302020204030204" pitchFamily="34" charset="0"/>
            </a:endParaRPr>
          </a:p>
        </p:txBody>
      </p:sp>
      <p:sp>
        <p:nvSpPr>
          <p:cNvPr id="1048608" name="TextBox 6"/>
          <p:cNvSpPr txBox="1"/>
          <p:nvPr/>
        </p:nvSpPr>
        <p:spPr>
          <a:xfrm>
            <a:off x="76200" y="1219200"/>
            <a:ext cx="8991600" cy="6083766"/>
          </a:xfrm>
          <a:prstGeom prst="rect">
            <a:avLst/>
          </a:prstGeom>
          <a:noFill/>
        </p:spPr>
        <p:txBody>
          <a:bodyPr wrap="square" lIns="182854" tIns="146283" rIns="182854" bIns="146283" rtlCol="0">
            <a:spAutoFit/>
          </a:bodyPr>
          <a:lstStyle/>
          <a:p>
            <a:r>
              <a:rPr lang="en-US" sz="3600" b="1" dirty="0"/>
              <a:t>Statement of the Problem</a:t>
            </a:r>
          </a:p>
          <a:p>
            <a:pPr marL="571500" indent="-571500">
              <a:buFont typeface="Arial" panose="020B0604020202020204" pitchFamily="34" charset="0"/>
              <a:buChar char="•"/>
            </a:pPr>
            <a:r>
              <a:rPr lang="en-US" sz="2800" dirty="0">
                <a:effectLst/>
                <a:latin typeface="Arial" panose="020B0604020202020204" pitchFamily="34" charset="0"/>
                <a:ea typeface="Times New Roman" panose="02020603050405020304" pitchFamily="18" charset="0"/>
              </a:rPr>
              <a:t>Manual monitoring of pool rules is labor-intensive and subject to human error.</a:t>
            </a:r>
          </a:p>
          <a:p>
            <a:pPr marL="571500" indent="-571500">
              <a:buFont typeface="Arial" panose="020B0604020202020204" pitchFamily="34" charset="0"/>
              <a:buChar char="•"/>
            </a:pPr>
            <a:r>
              <a:rPr lang="en-US" sz="2800" dirty="0">
                <a:effectLst/>
                <a:latin typeface="Arial" panose="020B0604020202020204" pitchFamily="34" charset="0"/>
                <a:ea typeface="Times New Roman" panose="02020603050405020304" pitchFamily="18" charset="0"/>
              </a:rPr>
              <a:t>The absence of a systematic violation documentation process makes it difficult for pool management to track compliance</a:t>
            </a:r>
            <a:endParaRPr lang="en-US" sz="2800" dirty="0">
              <a:latin typeface="Arial" panose="020B0604020202020204" pitchFamily="34" charset="0"/>
              <a:ea typeface="Times New Roman" panose="02020603050405020304" pitchFamily="18" charset="0"/>
            </a:endParaRPr>
          </a:p>
          <a:p>
            <a:pPr marL="571500" indent="-571500">
              <a:buFont typeface="Arial" panose="020B0604020202020204" pitchFamily="34" charset="0"/>
              <a:buChar char="•"/>
            </a:pPr>
            <a:r>
              <a:rPr lang="en-US" sz="2800" dirty="0">
                <a:effectLst/>
                <a:latin typeface="Arial" panose="020B0604020202020204" pitchFamily="34" charset="0"/>
                <a:ea typeface="Times New Roman" panose="02020603050405020304" pitchFamily="18" charset="0"/>
              </a:rPr>
              <a:t>Existing pool management systems do not integrate real-time visual monitoring capabilities</a:t>
            </a:r>
          </a:p>
          <a:p>
            <a:pPr marL="571500" indent="-571500">
              <a:buFont typeface="Arial" panose="020B0604020202020204" pitchFamily="34" charset="0"/>
              <a:buChar char="•"/>
            </a:pPr>
            <a:r>
              <a:rPr lang="en-US" sz="2800" dirty="0">
                <a:effectLst/>
                <a:latin typeface="Arial" panose="020B0604020202020204" pitchFamily="34" charset="0"/>
                <a:ea typeface="Times New Roman" panose="02020603050405020304" pitchFamily="18" charset="0"/>
              </a:rPr>
              <a:t>Manual rule enforcement places additional stress on pool staff and may lead to confrontational situations</a:t>
            </a:r>
            <a:endParaRPr lang="en-US" sz="4800" dirty="0"/>
          </a:p>
          <a:p>
            <a:endParaRPr lang="en-US" sz="3600" dirty="0"/>
          </a:p>
          <a:p>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extBox 4"/>
          <p:cNvSpPr txBox="1"/>
          <p:nvPr/>
        </p:nvSpPr>
        <p:spPr>
          <a:xfrm>
            <a:off x="0" y="152400"/>
            <a:ext cx="9144000" cy="849421"/>
          </a:xfrm>
          <a:prstGeom prst="rect">
            <a:avLst/>
          </a:prstGeom>
          <a:noFill/>
        </p:spPr>
        <p:txBody>
          <a:bodyPr wrap="square" lIns="182854" tIns="146283" rIns="182854" bIns="146283" rtlCol="0">
            <a:spAutoFit/>
          </a:bodyPr>
          <a:lstStyle/>
          <a:p>
            <a:r>
              <a:rPr lang="en-US" sz="3600" b="1" dirty="0">
                <a:solidFill>
                  <a:schemeClr val="bg1"/>
                </a:solidFill>
                <a:effectLst>
                  <a:glow rad="228600">
                    <a:schemeClr val="accent1">
                      <a:satMod val="175000"/>
                      <a:alpha val="40000"/>
                    </a:schemeClr>
                  </a:glow>
                  <a:outerShdw blurRad="50800" dist="38100" algn="l" rotWithShape="0">
                    <a:prstClr val="black">
                      <a:alpha val="40000"/>
                    </a:prstClr>
                  </a:outerShdw>
                  <a:reflection blurRad="6350" stA="55000" endA="300" endPos="45500" dir="5400000" sy="-100000" algn="bl" rotWithShape="0"/>
                </a:effectLst>
                <a:latin typeface="Arial" panose="020B0604020202020204" pitchFamily="34" charset="0"/>
                <a:cs typeface="Arial" panose="020B0604020202020204" pitchFamily="34" charset="0"/>
              </a:rPr>
              <a:t>Research Proposal</a:t>
            </a:r>
          </a:p>
        </p:txBody>
      </p:sp>
      <p:sp>
        <p:nvSpPr>
          <p:cNvPr id="1048613" name="Slide Number Placeholder 3"/>
          <p:cNvSpPr>
            <a:spLocks noGrp="1"/>
          </p:cNvSpPr>
          <p:nvPr>
            <p:ph type="sldNum" sz="quarter" idx="12"/>
          </p:nvPr>
        </p:nvSpPr>
        <p:spPr/>
        <p:txBody>
          <a:bodyPr/>
          <a:lstStyle/>
          <a:p>
            <a:fld id="{B6F15528-21DE-4FAA-801E-634DDDAF4B2B}" type="slidenum">
              <a:rPr lang="en-US" smtClean="0"/>
              <a:t>4</a:t>
            </a:fld>
            <a:endParaRPr lang="en-US" dirty="0"/>
          </a:p>
        </p:txBody>
      </p:sp>
      <p:sp>
        <p:nvSpPr>
          <p:cNvPr id="1048614" name="TextBox 5"/>
          <p:cNvSpPr txBox="1"/>
          <p:nvPr/>
        </p:nvSpPr>
        <p:spPr>
          <a:xfrm>
            <a:off x="76200" y="1219200"/>
            <a:ext cx="8991600" cy="664755"/>
          </a:xfrm>
          <a:prstGeom prst="rect">
            <a:avLst/>
          </a:prstGeom>
          <a:noFill/>
        </p:spPr>
        <p:txBody>
          <a:bodyPr wrap="square" lIns="182854" tIns="146283" rIns="182854" bIns="146283" rtlCol="0">
            <a:spAutoFit/>
          </a:bodyPr>
          <a:lstStyle/>
          <a:p>
            <a:r>
              <a:rPr lang="en-US" sz="2400" dirty="0">
                <a:latin typeface="Calibri Light" panose="020F0302020204030204" pitchFamily="34" charset="0"/>
                <a:cs typeface="Calibri Light" panose="020F0302020204030204" pitchFamily="34" charset="0"/>
              </a:rPr>
              <a:t>	</a:t>
            </a:r>
            <a:endParaRPr lang="en-US" sz="2400" b="1" i="1" dirty="0">
              <a:latin typeface="Calibri Light" panose="020F0302020204030204" pitchFamily="34" charset="0"/>
              <a:cs typeface="Calibri Light" panose="020F0302020204030204" pitchFamily="34" charset="0"/>
            </a:endParaRPr>
          </a:p>
        </p:txBody>
      </p:sp>
      <p:sp>
        <p:nvSpPr>
          <p:cNvPr id="1048615" name="TextBox 6"/>
          <p:cNvSpPr txBox="1"/>
          <p:nvPr/>
        </p:nvSpPr>
        <p:spPr>
          <a:xfrm>
            <a:off x="76200" y="1219200"/>
            <a:ext cx="8991600" cy="6058366"/>
          </a:xfrm>
          <a:prstGeom prst="rect">
            <a:avLst/>
          </a:prstGeom>
          <a:noFill/>
        </p:spPr>
        <p:txBody>
          <a:bodyPr wrap="square" lIns="182854" tIns="146283" rIns="182854" bIns="146283" rtlCol="0">
            <a:spAutoFit/>
          </a:bodyPr>
          <a:lstStyle/>
          <a:p>
            <a:r>
              <a:rPr lang="en-US" sz="3600" b="1" dirty="0"/>
              <a:t>Main Objectives</a:t>
            </a:r>
          </a:p>
          <a:p>
            <a:r>
              <a:rPr lang="en-US" sz="2000" b="0" i="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To design, develop, and evaluate a real-time pool rule compliance monitoring system that uses object detection to automatically flag violations and relay them to an administrative dashboard for oversight and documentation</a:t>
            </a:r>
            <a:endParaRPr lang="en-PH" sz="2000" b="0" i="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endParaRPr lang="en-US" sz="3600" dirty="0"/>
          </a:p>
          <a:p>
            <a:r>
              <a:rPr lang="en-US" sz="3600" b="1" dirty="0"/>
              <a:t>Specific Objectives</a:t>
            </a:r>
          </a:p>
          <a:p>
            <a:pPr marL="571500" indent="-571500">
              <a:buFont typeface="Arial" panose="020B0604020202020204" pitchFamily="34" charset="0"/>
              <a:buChar char="•"/>
            </a:pPr>
            <a:r>
              <a:rPr lang="en-US" sz="1600" dirty="0">
                <a:effectLst/>
                <a:latin typeface="Arial" panose="020B0604020202020204" pitchFamily="34" charset="0"/>
                <a:ea typeface="Calibri" panose="020F0502020204030204" pitchFamily="34" charset="0"/>
                <a:cs typeface="Times New Roman" panose="02020603050405020304" pitchFamily="18" charset="0"/>
              </a:rPr>
              <a:t>To develop a YOLOv8-based detection model capable of identifying wristbands, swimming attire compliance, and jumping or diving activities from live IP camera feeds.</a:t>
            </a:r>
            <a:endParaRPr lang="en-PH" sz="16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571500">
              <a:buFont typeface="Arial" panose="020B0604020202020204" pitchFamily="34" charset="0"/>
              <a:buChar char="•"/>
            </a:pPr>
            <a:r>
              <a:rPr lang="en-US" sz="1600" dirty="0">
                <a:effectLst/>
                <a:latin typeface="Arial" panose="020B0604020202020204" pitchFamily="34" charset="0"/>
                <a:ea typeface="Calibri" panose="020F0502020204030204" pitchFamily="34" charset="0"/>
                <a:cs typeface="Times New Roman" panose="02020603050405020304" pitchFamily="18" charset="0"/>
              </a:rPr>
              <a:t>To implement an automated flagging and screenshot capture mechanism that records violation incidents with timestamps and violation type labels.</a:t>
            </a:r>
            <a:endParaRPr lang="en-PH" sz="16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571500">
              <a:buFont typeface="Arial" panose="020B0604020202020204" pitchFamily="34" charset="0"/>
              <a:buChar char="•"/>
            </a:pPr>
            <a:r>
              <a:rPr lang="en-US" sz="1600" dirty="0">
                <a:effectLst/>
                <a:latin typeface="Arial" panose="020B0604020202020204" pitchFamily="34" charset="0"/>
                <a:ea typeface="Calibri" panose="020F0502020204030204" pitchFamily="34" charset="0"/>
                <a:cs typeface="Times New Roman" panose="02020603050405020304" pitchFamily="18" charset="0"/>
              </a:rPr>
              <a:t>To develop a web-based administrative dashboard using Django that displays flagged incidents in real time and maintains a searchable and filterable violation log.</a:t>
            </a:r>
            <a:endParaRPr lang="en-PH" sz="16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571500">
              <a:buFont typeface="Arial" panose="020B0604020202020204" pitchFamily="34" charset="0"/>
              <a:buChar char="•"/>
            </a:pPr>
            <a:r>
              <a:rPr lang="en-US" sz="1600" dirty="0">
                <a:effectLst/>
                <a:latin typeface="Arial" panose="020B0604020202020204" pitchFamily="34" charset="0"/>
                <a:ea typeface="Calibri" panose="020F0502020204030204" pitchFamily="34" charset="0"/>
                <a:cs typeface="Times New Roman" panose="02020603050405020304" pitchFamily="18" charset="0"/>
              </a:rPr>
              <a:t>To integrate the detection pipeline with a Tapo IP camera input via OpenCV for real-time video stream processing.</a:t>
            </a:r>
            <a:endParaRPr lang="en-PH" sz="16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571500">
              <a:buFont typeface="Arial" panose="020B0604020202020204" pitchFamily="34" charset="0"/>
              <a:buChar char="•"/>
            </a:pPr>
            <a:r>
              <a:rPr lang="en-US" sz="1600" dirty="0">
                <a:effectLst/>
                <a:latin typeface="Arial" panose="020B0604020202020204" pitchFamily="34" charset="0"/>
                <a:ea typeface="Calibri" panose="020F0502020204030204" pitchFamily="34" charset="0"/>
                <a:cs typeface="Times New Roman" panose="02020603050405020304" pitchFamily="18" charset="0"/>
              </a:rPr>
              <a:t>To evaluate the accuracy, precision, recall, and mean Average Precision (</a:t>
            </a:r>
            <a:r>
              <a:rPr lang="en-US" sz="1600" dirty="0" err="1">
                <a:effectLst/>
                <a:latin typeface="Arial" panose="020B0604020202020204" pitchFamily="34" charset="0"/>
                <a:ea typeface="Calibri" panose="020F0502020204030204" pitchFamily="34" charset="0"/>
                <a:cs typeface="Times New Roman" panose="02020603050405020304" pitchFamily="18" charset="0"/>
              </a:rPr>
              <a:t>mAP</a:t>
            </a:r>
            <a:r>
              <a:rPr lang="en-US" sz="1600" dirty="0">
                <a:effectLst/>
                <a:latin typeface="Arial" panose="020B0604020202020204" pitchFamily="34" charset="0"/>
                <a:ea typeface="Calibri" panose="020F0502020204030204" pitchFamily="34" charset="0"/>
                <a:cs typeface="Times New Roman" panose="02020603050405020304" pitchFamily="18" charset="0"/>
              </a:rPr>
              <a:t>) of the detection model on a locally collected and annotated dataset of pool environment images.</a:t>
            </a:r>
            <a:endParaRPr lang="en-US" sz="3200" b="1" dirty="0"/>
          </a:p>
          <a:p>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extBox 4"/>
          <p:cNvSpPr txBox="1"/>
          <p:nvPr/>
        </p:nvSpPr>
        <p:spPr>
          <a:xfrm>
            <a:off x="0" y="152400"/>
            <a:ext cx="9144000" cy="849421"/>
          </a:xfrm>
          <a:prstGeom prst="rect">
            <a:avLst/>
          </a:prstGeom>
          <a:noFill/>
        </p:spPr>
        <p:txBody>
          <a:bodyPr wrap="square" lIns="182854" tIns="146283" rIns="182854" bIns="146283" rtlCol="0">
            <a:spAutoFit/>
          </a:bodyPr>
          <a:lstStyle/>
          <a:p>
            <a:r>
              <a:rPr lang="en-US" sz="3600" b="1" dirty="0">
                <a:solidFill>
                  <a:schemeClr val="bg1"/>
                </a:solidFill>
                <a:effectLst>
                  <a:glow rad="228600">
                    <a:schemeClr val="accent1">
                      <a:satMod val="175000"/>
                      <a:alpha val="40000"/>
                    </a:schemeClr>
                  </a:glow>
                  <a:outerShdw blurRad="50800" dist="38100" algn="l" rotWithShape="0">
                    <a:prstClr val="black">
                      <a:alpha val="40000"/>
                    </a:prstClr>
                  </a:outerShdw>
                  <a:reflection blurRad="6350" stA="55000" endA="300" endPos="45500" dir="5400000" sy="-100000" algn="bl" rotWithShape="0"/>
                </a:effectLst>
                <a:latin typeface="Arial" panose="020B0604020202020204" pitchFamily="34" charset="0"/>
                <a:cs typeface="Arial" panose="020B0604020202020204" pitchFamily="34" charset="0"/>
              </a:rPr>
              <a:t>Research Proposal</a:t>
            </a:r>
          </a:p>
        </p:txBody>
      </p:sp>
      <p:sp>
        <p:nvSpPr>
          <p:cNvPr id="1048620" name="Slide Number Placeholder 3"/>
          <p:cNvSpPr>
            <a:spLocks noGrp="1"/>
          </p:cNvSpPr>
          <p:nvPr>
            <p:ph type="sldNum" sz="quarter" idx="12"/>
          </p:nvPr>
        </p:nvSpPr>
        <p:spPr/>
        <p:txBody>
          <a:bodyPr/>
          <a:lstStyle/>
          <a:p>
            <a:fld id="{B6F15528-21DE-4FAA-801E-634DDDAF4B2B}" type="slidenum">
              <a:rPr lang="en-US" smtClean="0"/>
              <a:t>5</a:t>
            </a:fld>
            <a:endParaRPr lang="en-US" dirty="0"/>
          </a:p>
        </p:txBody>
      </p:sp>
      <p:sp>
        <p:nvSpPr>
          <p:cNvPr id="1048621" name="TextBox 5"/>
          <p:cNvSpPr txBox="1"/>
          <p:nvPr/>
        </p:nvSpPr>
        <p:spPr>
          <a:xfrm>
            <a:off x="76200" y="1219200"/>
            <a:ext cx="8991600" cy="664755"/>
          </a:xfrm>
          <a:prstGeom prst="rect">
            <a:avLst/>
          </a:prstGeom>
          <a:noFill/>
        </p:spPr>
        <p:txBody>
          <a:bodyPr wrap="square" lIns="182854" tIns="146283" rIns="182854" bIns="146283" rtlCol="0">
            <a:spAutoFit/>
          </a:bodyPr>
          <a:lstStyle/>
          <a:p>
            <a:r>
              <a:rPr lang="en-US" sz="2400" dirty="0">
                <a:latin typeface="Calibri Light" panose="020F0302020204030204" pitchFamily="34" charset="0"/>
                <a:cs typeface="Calibri Light" panose="020F0302020204030204" pitchFamily="34" charset="0"/>
              </a:rPr>
              <a:t>	</a:t>
            </a:r>
            <a:endParaRPr lang="en-US" sz="2400" b="1" i="1" dirty="0">
              <a:latin typeface="Calibri Light" panose="020F0302020204030204" pitchFamily="34" charset="0"/>
              <a:cs typeface="Calibri Light" panose="020F0302020204030204" pitchFamily="34" charset="0"/>
            </a:endParaRPr>
          </a:p>
        </p:txBody>
      </p:sp>
      <p:sp>
        <p:nvSpPr>
          <p:cNvPr id="1048622" name="TextBox 6"/>
          <p:cNvSpPr txBox="1"/>
          <p:nvPr/>
        </p:nvSpPr>
        <p:spPr>
          <a:xfrm>
            <a:off x="76200" y="1219200"/>
            <a:ext cx="8991600" cy="4293066"/>
          </a:xfrm>
          <a:prstGeom prst="rect">
            <a:avLst/>
          </a:prstGeom>
          <a:noFill/>
        </p:spPr>
        <p:txBody>
          <a:bodyPr wrap="square" lIns="182854" tIns="146283" rIns="182854" bIns="146283" rtlCol="0">
            <a:spAutoFit/>
          </a:bodyPr>
          <a:lstStyle/>
          <a:p>
            <a:r>
              <a:rPr lang="en-US" sz="3600" b="1" dirty="0"/>
              <a:t>Review of Related Literature and Systems (RRLS) </a:t>
            </a:r>
          </a:p>
          <a:p>
            <a:endParaRPr lang="zh-CN" altLang="en-US"/>
          </a:p>
          <a:p>
            <a:r>
              <a:rPr lang="en-US" altLang="en-GB" dirty="0">
                <a:effectLst/>
                <a:latin typeface="Times New Roman" panose="02020603050405020304" pitchFamily="18" charset="0"/>
                <a:ea typeface="Times New Roman" panose="02020603050405020304" pitchFamily="18" charset="0"/>
              </a:rPr>
              <a:t>YOLO-Based Object Detection Frameworks</a:t>
            </a:r>
            <a:endParaRPr lang="zh-CN" altLang="en-US"/>
          </a:p>
          <a:p>
            <a:endParaRPr lang="zh-CN" altLang="en-US"/>
          </a:p>
          <a:p>
            <a:r>
              <a:rPr lang="en-US" sz="1800" dirty="0">
                <a:effectLst/>
                <a:latin typeface="Arial" panose="020B0604020202020204" pitchFamily="34" charset="0"/>
                <a:ea typeface="Times New Roman" panose="02020603050405020304" pitchFamily="18" charset="0"/>
              </a:rPr>
              <a:t>Computer Vision for Compliance and Safety Monitoring</a:t>
            </a:r>
          </a:p>
          <a:p>
            <a:pPr marL="1028700" lvl="1" indent="-571500">
              <a:buFont typeface="Arial" panose="020B0604020202020204" pitchFamily="34" charset="0"/>
              <a:buChar char="•"/>
            </a:pPr>
            <a:endParaRPr lang="en-PH" dirty="0">
              <a:effectLst/>
              <a:latin typeface="Times New Roman" panose="02020603050405020304" pitchFamily="18" charset="0"/>
              <a:ea typeface="Times New Roman" panose="02020603050405020304" pitchFamily="18" charset="0"/>
            </a:endParaRPr>
          </a:p>
          <a:p>
            <a:r>
              <a:rPr lang="en-US" sz="1800" dirty="0">
                <a:effectLst/>
                <a:latin typeface="Arial" panose="020B0604020202020204" pitchFamily="34" charset="0"/>
                <a:ea typeface="Times New Roman" panose="02020603050405020304" pitchFamily="18" charset="0"/>
              </a:rPr>
              <a:t>Human Activity and Behavior Recognition</a:t>
            </a:r>
          </a:p>
          <a:p>
            <a:pPr marL="1028700" lvl="1" indent="-571500">
              <a:buFont typeface="Arial" panose="020B0604020202020204" pitchFamily="34" charset="0"/>
              <a:buChar char="•"/>
            </a:pPr>
            <a:endParaRPr lang="en-PH" dirty="0">
              <a:effectLst/>
              <a:latin typeface="Times New Roman" panose="02020603050405020304" pitchFamily="18" charset="0"/>
              <a:ea typeface="Times New Roman" panose="02020603050405020304" pitchFamily="18" charset="0"/>
            </a:endParaRPr>
          </a:p>
          <a:p>
            <a:r>
              <a:rPr lang="en-US" sz="1800" dirty="0">
                <a:effectLst/>
                <a:latin typeface="Arial" panose="020B0604020202020204" pitchFamily="34" charset="0"/>
                <a:ea typeface="Times New Roman" panose="02020603050405020304" pitchFamily="18" charset="0"/>
              </a:rPr>
              <a:t>Clothing and Accessory Attribute Detection</a:t>
            </a:r>
          </a:p>
          <a:p>
            <a:pPr marL="457200" lvl="1" indent="0">
              <a:buNone/>
            </a:pPr>
            <a:r>
              <a:rPr lang="en-US" dirty="0">
                <a:latin typeface="Arial" panose="020B0604020202020204" pitchFamily="34" charset="0"/>
                <a:ea typeface="Times New Roman" panose="02020603050405020304" pitchFamily="18" charset="0"/>
              </a:rPr>
              <a:t>	</a:t>
            </a:r>
            <a:endParaRPr lang="en-PH" dirty="0">
              <a:effectLst/>
              <a:latin typeface="Times New Roman" panose="02020603050405020304" pitchFamily="18" charset="0"/>
              <a:ea typeface="Times New Roman" panose="02020603050405020304" pitchFamily="18" charset="0"/>
            </a:endParaRPr>
          </a:p>
          <a:p>
            <a:r>
              <a:rPr lang="en-US" sz="1800" dirty="0">
                <a:effectLst/>
                <a:latin typeface="Arial" panose="020B0604020202020204" pitchFamily="34" charset="0"/>
                <a:ea typeface="Times New Roman" panose="02020603050405020304" pitchFamily="18" charset="0"/>
              </a:rPr>
              <a:t>Web-Based Monitoring Dashboards and Administrative Systems</a:t>
            </a:r>
            <a:endParaRPr lang="en-US" sz="3600" dirty="0">
              <a:effectLst/>
              <a:latin typeface="Arial" panose="020B0604020202020204" pitchFamily="34" charset="0"/>
              <a:ea typeface="Times New Roman" panose="02020603050405020304" pitchFamily="18" charset="0"/>
            </a:endParaRPr>
          </a:p>
          <a:p>
            <a:pPr marL="1028700" lvl="1" indent="-571500">
              <a:buFont typeface="Arial" panose="020B0604020202020204" pitchFamily="34" charset="0"/>
              <a:buChar char="•"/>
            </a:pPr>
            <a:endParaRPr lang="en-US" dirty="0">
              <a:effectLst/>
              <a:latin typeface="Arial" panose="020B0604020202020204" pitchFamily="34" charset="0"/>
              <a:ea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extBox 4"/>
          <p:cNvSpPr txBox="1"/>
          <p:nvPr/>
        </p:nvSpPr>
        <p:spPr>
          <a:xfrm>
            <a:off x="0" y="152400"/>
            <a:ext cx="9144000" cy="849421"/>
          </a:xfrm>
          <a:prstGeom prst="rect">
            <a:avLst/>
          </a:prstGeom>
          <a:noFill/>
        </p:spPr>
        <p:txBody>
          <a:bodyPr wrap="square" lIns="182854" tIns="146283" rIns="182854" bIns="146283" rtlCol="0">
            <a:spAutoFit/>
          </a:bodyPr>
          <a:lstStyle/>
          <a:p>
            <a:r>
              <a:rPr lang="en-US" sz="3600" b="1" dirty="0">
                <a:solidFill>
                  <a:schemeClr val="bg1"/>
                </a:solidFill>
                <a:effectLst>
                  <a:glow rad="228600">
                    <a:schemeClr val="accent1">
                      <a:satMod val="175000"/>
                      <a:alpha val="40000"/>
                    </a:schemeClr>
                  </a:glow>
                  <a:outerShdw blurRad="50800" dist="38100" algn="l" rotWithShape="0">
                    <a:prstClr val="black">
                      <a:alpha val="40000"/>
                    </a:prstClr>
                  </a:outerShdw>
                  <a:reflection blurRad="6350" stA="55000" endA="300" endPos="45500" dir="5400000" sy="-100000" algn="bl" rotWithShape="0"/>
                </a:effectLst>
                <a:latin typeface="Arial" panose="020B0604020202020204" pitchFamily="34" charset="0"/>
                <a:cs typeface="Arial" panose="020B0604020202020204" pitchFamily="34" charset="0"/>
              </a:rPr>
              <a:t>Research Proposal</a:t>
            </a:r>
          </a:p>
        </p:txBody>
      </p:sp>
      <p:sp>
        <p:nvSpPr>
          <p:cNvPr id="1048634" name="Slide Number Placeholder 3"/>
          <p:cNvSpPr>
            <a:spLocks noGrp="1"/>
          </p:cNvSpPr>
          <p:nvPr>
            <p:ph type="sldNum" sz="quarter" idx="12"/>
          </p:nvPr>
        </p:nvSpPr>
        <p:spPr/>
        <p:txBody>
          <a:bodyPr/>
          <a:lstStyle/>
          <a:p>
            <a:fld id="{B6F15528-21DE-4FAA-801E-634DDDAF4B2B}" type="slidenum">
              <a:rPr lang="en-US" smtClean="0"/>
              <a:t>6</a:t>
            </a:fld>
            <a:endParaRPr lang="en-US" dirty="0"/>
          </a:p>
        </p:txBody>
      </p:sp>
      <p:sp>
        <p:nvSpPr>
          <p:cNvPr id="1048635" name="TextBox 5"/>
          <p:cNvSpPr txBox="1"/>
          <p:nvPr/>
        </p:nvSpPr>
        <p:spPr>
          <a:xfrm>
            <a:off x="76200" y="1219200"/>
            <a:ext cx="8991600" cy="664755"/>
          </a:xfrm>
          <a:prstGeom prst="rect">
            <a:avLst/>
          </a:prstGeom>
          <a:noFill/>
        </p:spPr>
        <p:txBody>
          <a:bodyPr wrap="square" lIns="182854" tIns="146283" rIns="182854" bIns="146283" rtlCol="0">
            <a:spAutoFit/>
          </a:bodyPr>
          <a:lstStyle/>
          <a:p>
            <a:r>
              <a:rPr lang="en-US" sz="2400" dirty="0">
                <a:latin typeface="Calibri Light" panose="020F0302020204030204" pitchFamily="34" charset="0"/>
                <a:cs typeface="Calibri Light" panose="020F0302020204030204" pitchFamily="34" charset="0"/>
              </a:rPr>
              <a:t>	</a:t>
            </a:r>
            <a:endParaRPr lang="en-US" sz="2400" b="1" i="1" dirty="0">
              <a:latin typeface="Calibri Light" panose="020F0302020204030204" pitchFamily="34" charset="0"/>
              <a:cs typeface="Calibri Light" panose="020F0302020204030204" pitchFamily="34" charset="0"/>
            </a:endParaRPr>
          </a:p>
        </p:txBody>
      </p:sp>
      <p:sp>
        <p:nvSpPr>
          <p:cNvPr id="1048636" name="TextBox 6"/>
          <p:cNvSpPr txBox="1"/>
          <p:nvPr/>
        </p:nvSpPr>
        <p:spPr>
          <a:xfrm>
            <a:off x="76200" y="1219200"/>
            <a:ext cx="8991600" cy="5093166"/>
          </a:xfrm>
          <a:prstGeom prst="rect">
            <a:avLst/>
          </a:prstGeom>
          <a:noFill/>
        </p:spPr>
        <p:txBody>
          <a:bodyPr wrap="square" lIns="182854" tIns="146283" rIns="182854" bIns="146283" rtlCol="0">
            <a:spAutoFit/>
          </a:bodyPr>
          <a:lstStyle/>
          <a:p>
            <a:r>
              <a:rPr lang="en-US" sz="3600" b="1" dirty="0"/>
              <a:t>Conceptual Framework and </a:t>
            </a:r>
          </a:p>
          <a:p>
            <a:r>
              <a:rPr lang="en-US" sz="3600" b="1" dirty="0"/>
              <a:t>Technical Background</a:t>
            </a:r>
          </a:p>
          <a:p>
            <a:pPr marL="571500" indent="-571500">
              <a:buFont typeface="Arial" panose="020B0604020202020204" pitchFamily="34" charset="0"/>
              <a:buChar char="•"/>
            </a:pPr>
            <a:r>
              <a:rPr lang="en-US" sz="3600" dirty="0"/>
              <a:t>IPO Models: Input (live RTSP feed) &gt; Process (YOLOv8 detection + rule logic) &gt; Output (flagged violations + dashboard alerts)</a:t>
            </a:r>
          </a:p>
          <a:p>
            <a:pPr marL="571500" indent="-571500">
              <a:buFont typeface="Arial" panose="020B0604020202020204" pitchFamily="34" charset="0"/>
              <a:buChar char="•"/>
            </a:pPr>
            <a:r>
              <a:rPr lang="en-US" sz="3600" dirty="0"/>
              <a:t>Core Stack: YOLOv8, OpenCV, Tapo C310 IP camera (RTSP, 15fps) </a:t>
            </a:r>
          </a:p>
          <a:p>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TextBox 4"/>
          <p:cNvSpPr txBox="1"/>
          <p:nvPr/>
        </p:nvSpPr>
        <p:spPr>
          <a:xfrm>
            <a:off x="0" y="152400"/>
            <a:ext cx="9144000" cy="849421"/>
          </a:xfrm>
          <a:prstGeom prst="rect">
            <a:avLst/>
          </a:prstGeom>
          <a:noFill/>
        </p:spPr>
        <p:txBody>
          <a:bodyPr wrap="square" lIns="182854" tIns="146283" rIns="182854" bIns="146283" rtlCol="0">
            <a:spAutoFit/>
          </a:bodyPr>
          <a:lstStyle/>
          <a:p>
            <a:r>
              <a:rPr lang="en-US" sz="3600" b="1" dirty="0">
                <a:solidFill>
                  <a:schemeClr val="bg1"/>
                </a:solidFill>
                <a:effectLst>
                  <a:glow rad="228600">
                    <a:schemeClr val="accent1">
                      <a:satMod val="175000"/>
                      <a:alpha val="40000"/>
                    </a:schemeClr>
                  </a:glow>
                  <a:outerShdw blurRad="50800" dist="38100" algn="l" rotWithShape="0">
                    <a:prstClr val="black">
                      <a:alpha val="40000"/>
                    </a:prstClr>
                  </a:outerShdw>
                  <a:reflection blurRad="6350" stA="55000" endA="300" endPos="45500" dir="5400000" sy="-100000" algn="bl" rotWithShape="0"/>
                </a:effectLst>
                <a:latin typeface="Arial" panose="020B0604020202020204" pitchFamily="34" charset="0"/>
                <a:cs typeface="Arial" panose="020B0604020202020204" pitchFamily="34" charset="0"/>
              </a:rPr>
              <a:t>Research Proposal</a:t>
            </a:r>
          </a:p>
        </p:txBody>
      </p:sp>
      <p:sp>
        <p:nvSpPr>
          <p:cNvPr id="1048641" name="Slide Number Placeholder 3"/>
          <p:cNvSpPr>
            <a:spLocks noGrp="1"/>
          </p:cNvSpPr>
          <p:nvPr>
            <p:ph type="sldNum" sz="quarter" idx="12"/>
          </p:nvPr>
        </p:nvSpPr>
        <p:spPr/>
        <p:txBody>
          <a:bodyPr/>
          <a:lstStyle/>
          <a:p>
            <a:fld id="{B6F15528-21DE-4FAA-801E-634DDDAF4B2B}" type="slidenum">
              <a:rPr lang="en-US" smtClean="0"/>
              <a:t>7</a:t>
            </a:fld>
            <a:endParaRPr lang="en-US" dirty="0"/>
          </a:p>
        </p:txBody>
      </p:sp>
      <p:sp>
        <p:nvSpPr>
          <p:cNvPr id="1048642" name="TextBox 5"/>
          <p:cNvSpPr txBox="1"/>
          <p:nvPr/>
        </p:nvSpPr>
        <p:spPr>
          <a:xfrm>
            <a:off x="76200" y="1219200"/>
            <a:ext cx="8991600" cy="664755"/>
          </a:xfrm>
          <a:prstGeom prst="rect">
            <a:avLst/>
          </a:prstGeom>
          <a:noFill/>
        </p:spPr>
        <p:txBody>
          <a:bodyPr wrap="square" lIns="182854" tIns="146283" rIns="182854" bIns="146283" rtlCol="0">
            <a:spAutoFit/>
          </a:bodyPr>
          <a:lstStyle/>
          <a:p>
            <a:r>
              <a:rPr lang="en-US" sz="2400" dirty="0">
                <a:latin typeface="Calibri Light" panose="020F0302020204030204" pitchFamily="34" charset="0"/>
                <a:cs typeface="Calibri Light" panose="020F0302020204030204" pitchFamily="34" charset="0"/>
              </a:rPr>
              <a:t>	</a:t>
            </a:r>
            <a:endParaRPr lang="en-US" sz="2400" b="1" i="1" dirty="0">
              <a:latin typeface="Calibri Light" panose="020F0302020204030204" pitchFamily="34" charset="0"/>
              <a:cs typeface="Calibri Light" panose="020F0302020204030204" pitchFamily="34" charset="0"/>
            </a:endParaRPr>
          </a:p>
        </p:txBody>
      </p:sp>
      <p:sp>
        <p:nvSpPr>
          <p:cNvPr id="1048643" name="TextBox 6"/>
          <p:cNvSpPr txBox="1"/>
          <p:nvPr/>
        </p:nvSpPr>
        <p:spPr>
          <a:xfrm>
            <a:off x="76200" y="1219200"/>
            <a:ext cx="8991600" cy="6159965"/>
          </a:xfrm>
          <a:prstGeom prst="rect">
            <a:avLst/>
          </a:prstGeom>
          <a:noFill/>
        </p:spPr>
        <p:txBody>
          <a:bodyPr wrap="square" lIns="182854" tIns="146283" rIns="182854" bIns="146283" rtlCol="0">
            <a:spAutoFit/>
          </a:bodyPr>
          <a:lstStyle/>
          <a:p>
            <a:r>
              <a:rPr lang="en-US" sz="3600" b="1" dirty="0"/>
              <a:t>Methodology</a:t>
            </a:r>
            <a:endParaRPr lang="en-US" b="1" dirty="0"/>
          </a:p>
          <a:p>
            <a:pPr marL="571500" indent="-571500">
              <a:buFont typeface="Arial" panose="020B0604020202020204" pitchFamily="34" charset="0"/>
              <a:buChar char="•"/>
            </a:pPr>
            <a:r>
              <a:rPr lang="en-US" sz="3600" dirty="0"/>
              <a:t>Agile development, built and tested in iterative sprints</a:t>
            </a:r>
          </a:p>
          <a:p>
            <a:pPr marL="571500" indent="-571500">
              <a:buFont typeface="Arial" panose="020B0604020202020204" pitchFamily="34" charset="0"/>
              <a:buChar char="•"/>
            </a:pPr>
            <a:r>
              <a:rPr lang="en-US" sz="3600" dirty="0"/>
              <a:t>Data: pool footage/images labeled and trained via </a:t>
            </a:r>
            <a:r>
              <a:rPr lang="en-US" sz="3600" dirty="0" err="1"/>
              <a:t>Roboflow</a:t>
            </a:r>
            <a:r>
              <a:rPr lang="en-US" sz="3600" dirty="0"/>
              <a:t> + Google </a:t>
            </a:r>
            <a:r>
              <a:rPr lang="en-US" sz="3600" dirty="0" err="1"/>
              <a:t>Colab</a:t>
            </a:r>
            <a:endParaRPr lang="en-US" sz="3600" dirty="0"/>
          </a:p>
          <a:p>
            <a:pPr marL="571500" indent="-571500">
              <a:buFont typeface="Arial" panose="020B0604020202020204" pitchFamily="34" charset="0"/>
              <a:buChar char="•"/>
            </a:pPr>
            <a:r>
              <a:rPr lang="en-US" sz="3600" dirty="0"/>
              <a:t>Pipeline: OpenCV RTSP capture &gt; YOLOv8 inference &gt; Django API logging</a:t>
            </a:r>
          </a:p>
          <a:p>
            <a:pPr marL="571500" indent="-571500">
              <a:buFont typeface="Arial" panose="020B0604020202020204" pitchFamily="34" charset="0"/>
              <a:buChar char="•"/>
            </a:pPr>
            <a:r>
              <a:rPr lang="en-US" sz="3600" dirty="0"/>
              <a:t>Testing: precision/recall evaluation plus staff usability testing of the dashboard</a:t>
            </a:r>
          </a:p>
          <a:p>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extBox 4"/>
          <p:cNvSpPr txBox="1"/>
          <p:nvPr/>
        </p:nvSpPr>
        <p:spPr>
          <a:xfrm>
            <a:off x="0" y="152400"/>
            <a:ext cx="9144000" cy="849421"/>
          </a:xfrm>
          <a:prstGeom prst="rect">
            <a:avLst/>
          </a:prstGeom>
          <a:noFill/>
        </p:spPr>
        <p:txBody>
          <a:bodyPr wrap="square" lIns="182854" tIns="146283" rIns="182854" bIns="146283" rtlCol="0">
            <a:spAutoFit/>
          </a:bodyPr>
          <a:lstStyle/>
          <a:p>
            <a:r>
              <a:rPr lang="en-US" sz="3600" b="1" dirty="0">
                <a:solidFill>
                  <a:schemeClr val="bg1"/>
                </a:solidFill>
                <a:effectLst>
                  <a:glow rad="228600">
                    <a:schemeClr val="accent1">
                      <a:satMod val="175000"/>
                      <a:alpha val="40000"/>
                    </a:schemeClr>
                  </a:glow>
                  <a:outerShdw blurRad="50800" dist="38100" algn="l" rotWithShape="0">
                    <a:prstClr val="black">
                      <a:alpha val="40000"/>
                    </a:prstClr>
                  </a:outerShdw>
                  <a:reflection blurRad="6350" stA="55000" endA="300" endPos="45500" dir="5400000" sy="-100000" algn="bl" rotWithShape="0"/>
                </a:effectLst>
                <a:latin typeface="Arial" panose="020B0604020202020204" pitchFamily="34" charset="0"/>
                <a:cs typeface="Arial" panose="020B0604020202020204" pitchFamily="34" charset="0"/>
              </a:rPr>
              <a:t>Research Proposal</a:t>
            </a:r>
          </a:p>
        </p:txBody>
      </p:sp>
      <p:sp>
        <p:nvSpPr>
          <p:cNvPr id="1048648" name="Slide Number Placeholder 3"/>
          <p:cNvSpPr>
            <a:spLocks noGrp="1"/>
          </p:cNvSpPr>
          <p:nvPr>
            <p:ph type="sldNum" sz="quarter" idx="12"/>
          </p:nvPr>
        </p:nvSpPr>
        <p:spPr/>
        <p:txBody>
          <a:bodyPr/>
          <a:lstStyle/>
          <a:p>
            <a:fld id="{B6F15528-21DE-4FAA-801E-634DDDAF4B2B}" type="slidenum">
              <a:rPr lang="en-US" smtClean="0"/>
              <a:t>8</a:t>
            </a:fld>
            <a:endParaRPr lang="en-US" dirty="0"/>
          </a:p>
        </p:txBody>
      </p:sp>
      <p:sp>
        <p:nvSpPr>
          <p:cNvPr id="1048649" name="TextBox 5"/>
          <p:cNvSpPr txBox="1"/>
          <p:nvPr/>
        </p:nvSpPr>
        <p:spPr>
          <a:xfrm>
            <a:off x="76200" y="1219200"/>
            <a:ext cx="8991600" cy="664755"/>
          </a:xfrm>
          <a:prstGeom prst="rect">
            <a:avLst/>
          </a:prstGeom>
          <a:noFill/>
        </p:spPr>
        <p:txBody>
          <a:bodyPr wrap="square" lIns="182854" tIns="146283" rIns="182854" bIns="146283" rtlCol="0">
            <a:spAutoFit/>
          </a:bodyPr>
          <a:lstStyle/>
          <a:p>
            <a:r>
              <a:rPr lang="en-US" sz="2400" dirty="0">
                <a:latin typeface="Calibri Light" panose="020F0302020204030204" pitchFamily="34" charset="0"/>
                <a:cs typeface="Calibri Light" panose="020F0302020204030204" pitchFamily="34" charset="0"/>
              </a:rPr>
              <a:t>	</a:t>
            </a:r>
            <a:endParaRPr lang="en-US" sz="2400" b="1" i="1" dirty="0">
              <a:latin typeface="Calibri Light" panose="020F0302020204030204" pitchFamily="34" charset="0"/>
              <a:cs typeface="Calibri Light" panose="020F0302020204030204" pitchFamily="34" charset="0"/>
            </a:endParaRPr>
          </a:p>
        </p:txBody>
      </p:sp>
      <p:sp>
        <p:nvSpPr>
          <p:cNvPr id="1048650" name="TextBox 6"/>
          <p:cNvSpPr txBox="1"/>
          <p:nvPr/>
        </p:nvSpPr>
        <p:spPr>
          <a:xfrm>
            <a:off x="76200" y="1219200"/>
            <a:ext cx="8991600" cy="5127515"/>
          </a:xfrm>
          <a:prstGeom prst="rect">
            <a:avLst/>
          </a:prstGeom>
          <a:noFill/>
        </p:spPr>
        <p:txBody>
          <a:bodyPr wrap="square" lIns="182854" tIns="146283" rIns="182854" bIns="146283" rtlCol="0">
            <a:spAutoFit/>
          </a:bodyPr>
          <a:lstStyle/>
          <a:p>
            <a:r>
              <a:rPr lang="en-US" sz="3600" b="1" dirty="0"/>
              <a:t>Prototype</a:t>
            </a:r>
            <a:endParaRPr lang="en-US" b="1" dirty="0"/>
          </a:p>
          <a:p>
            <a:endParaRPr lang="en-US" b="1" dirty="0"/>
          </a:p>
          <a:p>
            <a:pPr marL="571500" indent="-571500">
              <a:buFont typeface="Arial" panose="020B0604020202020204" pitchFamily="34" charset="0"/>
              <a:buChar char="•"/>
            </a:pPr>
            <a:r>
              <a:rPr lang="en-US" sz="3200" dirty="0"/>
              <a:t>Live video feed with real-time monitoring</a:t>
            </a:r>
            <a:endParaRPr sz="2800" dirty="0"/>
          </a:p>
          <a:p>
            <a:pPr marL="571500" indent="-571500">
              <a:buFont typeface="Arial" panose="020B0604020202020204" pitchFamily="34" charset="0"/>
              <a:buChar char="•"/>
            </a:pPr>
            <a:r>
              <a:rPr lang="en-US" sz="3200" dirty="0"/>
              <a:t>Admin Dashboard: violation alerts, confidence score, timestamped log</a:t>
            </a:r>
            <a:endParaRPr sz="2800" dirty="0"/>
          </a:p>
          <a:p>
            <a:pPr marL="571500" indent="-571500">
              <a:buFont typeface="Arial" panose="020B0604020202020204" pitchFamily="34" charset="0"/>
              <a:buChar char="•"/>
            </a:pPr>
            <a:r>
              <a:rPr lang="en-US" sz="3200" dirty="0"/>
              <a:t>Tracks 3 violation: missing wristband, improper attire, prohibited jumping/diving</a:t>
            </a:r>
            <a:endParaRPr sz="2800" dirty="0"/>
          </a:p>
          <a:p>
            <a:pPr marL="571500" indent="-571500">
              <a:buFont typeface="Arial" panose="020B0604020202020204" pitchFamily="34" charset="0"/>
              <a:buChar char="•"/>
            </a:pPr>
            <a:r>
              <a:rPr lang="en-US" sz="3200" dirty="0"/>
              <a:t>Built on Django + SQLite, with a REST-style violations API</a:t>
            </a:r>
            <a:endParaRPr sz="2800" dirty="0"/>
          </a:p>
          <a:p>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Slide Number Placeholder 1"/>
          <p:cNvSpPr>
            <a:spLocks noGrp="1"/>
          </p:cNvSpPr>
          <p:nvPr>
            <p:ph type="sldNum" sz="quarter" idx="12"/>
          </p:nvPr>
        </p:nvSpPr>
        <p:spPr/>
        <p:txBody>
          <a:bodyPr/>
          <a:lstStyle/>
          <a:p>
            <a:fld id="{B6F15528-21DE-4FAA-801E-634DDDAF4B2B}" type="slidenum">
              <a:rPr lang="en-US" smtClean="0"/>
              <a:t>9</a:t>
            </a:fld>
            <a:endParaRPr lang="en-US"/>
          </a:p>
        </p:txBody>
      </p:sp>
      <p:sp>
        <p:nvSpPr>
          <p:cNvPr id="1048658" name="Rectangle 2"/>
          <p:cNvSpPr/>
          <p:nvPr/>
        </p:nvSpPr>
        <p:spPr>
          <a:xfrm>
            <a:off x="2819400" y="0"/>
            <a:ext cx="6324600" cy="6858000"/>
          </a:xfrm>
          <a:prstGeom prst="rect">
            <a:avLst/>
          </a:prstGeom>
          <a:solidFill>
            <a:srgbClr val="A9131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3233" tIns="46618" rIns="93233" bIns="46618" numCol="1" rtlCol="0" anchor="ctr" anchorCtr="0" compatLnSpc="1">
            <a:prstTxWarp prst="textNoShape">
              <a:avLst/>
            </a:prstTxWarp>
          </a:bodyPr>
          <a:lstStyle/>
          <a:p>
            <a:pPr algn="ctr" defTabSz="932066"/>
            <a:r>
              <a:rPr lang="en-US" sz="8800" b="1" dirty="0">
                <a:solidFill>
                  <a:schemeClr val="bg1"/>
                </a:solidFill>
                <a:effectLst>
                  <a:outerShdw blurRad="38100" dist="38100" dir="2700000" algn="tl">
                    <a:srgbClr val="000000">
                      <a:alpha val="43137"/>
                    </a:srgbClr>
                  </a:outerShdw>
                </a:effectLst>
              </a:rPr>
              <a:t>Thank You!</a:t>
            </a:r>
          </a:p>
          <a:p>
            <a:pPr algn="ctr" defTabSz="932066"/>
            <a:endParaRPr lang="en-US" sz="4000" b="1" dirty="0">
              <a:solidFill>
                <a:schemeClr val="bg1"/>
              </a:solidFill>
              <a:effectLst>
                <a:outerShdw blurRad="38100" dist="38100" dir="2700000" algn="tl">
                  <a:srgbClr val="000000">
                    <a:alpha val="43137"/>
                  </a:srgbClr>
                </a:outerShdw>
              </a:effectLst>
            </a:endParaRPr>
          </a:p>
          <a:p>
            <a:pPr algn="ctr" defTabSz="932066"/>
            <a:endParaRPr lang="en-US" sz="4000" b="1" dirty="0">
              <a:solidFill>
                <a:schemeClr val="bg1"/>
              </a:solidFill>
              <a:effectLst>
                <a:outerShdw blurRad="38100" dist="38100" dir="2700000" algn="tl">
                  <a:srgbClr val="000000">
                    <a:alpha val="43137"/>
                  </a:srgbClr>
                </a:outerShdw>
              </a:effectLst>
            </a:endParaRPr>
          </a:p>
          <a:p>
            <a:pPr algn="ctr" defTabSz="932066"/>
            <a:r>
              <a:rPr lang="en-US" sz="3200" b="1" dirty="0">
                <a:solidFill>
                  <a:schemeClr val="bg1"/>
                </a:solidFill>
                <a:effectLst>
                  <a:outerShdw blurRad="38100" dist="38100" dir="2700000" algn="tl">
                    <a:srgbClr val="000000">
                      <a:alpha val="43137"/>
                    </a:srgbClr>
                  </a:outerShdw>
                </a:effectLst>
              </a:rPr>
              <a:t>Presentation by:</a:t>
            </a:r>
          </a:p>
          <a:p>
            <a:pPr algn="ctr" defTabSz="932066"/>
            <a:r>
              <a:rPr lang="en-US" sz="2800" b="1" dirty="0">
                <a:solidFill>
                  <a:schemeClr val="bg1"/>
                </a:solidFill>
                <a:effectLst>
                  <a:outerShdw blurRad="38100" dist="38100" dir="2700000" algn="tl">
                    <a:srgbClr val="000000">
                      <a:alpha val="43137"/>
                    </a:srgbClr>
                  </a:outerShdw>
                </a:effectLst>
              </a:rPr>
              <a:t>Solis, Luisa Mae C.</a:t>
            </a:r>
          </a:p>
          <a:p>
            <a:pPr algn="ctr" defTabSz="932066"/>
            <a:endParaRPr lang="en-US" sz="2800" b="1" dirty="0">
              <a:solidFill>
                <a:schemeClr val="bg1"/>
              </a:solidFill>
              <a:effectLst>
                <a:outerShdw blurRad="38100" dist="38100" dir="2700000" algn="tl">
                  <a:srgbClr val="000000">
                    <a:alpha val="43137"/>
                  </a:srgbClr>
                </a:outerShdw>
              </a:effectLst>
            </a:endParaRPr>
          </a:p>
        </p:txBody>
      </p:sp>
      <p:pic>
        <p:nvPicPr>
          <p:cNvPr id="2097155" name="Picture 3"/>
          <p:cNvPicPr>
            <a:picLocks noChangeAspect="1"/>
          </p:cNvPicPr>
          <p:nvPr/>
        </p:nvPicPr>
        <p:blipFill>
          <a:blip r:embed="rId2" cstate="print"/>
          <a:stretch>
            <a:fillRect/>
          </a:stretch>
        </p:blipFill>
        <p:spPr>
          <a:xfrm>
            <a:off x="457200" y="2400300"/>
            <a:ext cx="2057400" cy="2057400"/>
          </a:xfrm>
          <a:prstGeom prst="rect">
            <a:avLst/>
          </a:prstGeom>
          <a:noFill/>
          <a:effectLst>
            <a:glow rad="127000">
              <a:schemeClr val="bg1"/>
            </a:glow>
            <a:outerShdw sx="1000" sy="1000" algn="ctr" rotWithShape="0">
              <a:srgbClr val="000000"/>
            </a:outerShdw>
            <a:reflection endPos="0" dir="5400000" sy="-100000" algn="bl" rotWithShape="0"/>
          </a:effectLst>
        </p:spPr>
      </p:pic>
    </p:spTree>
  </p:cSld>
  <p:clrMapOvr>
    <a:masterClrMapping/>
  </p:clrMapOvr>
</p:sld>
</file>

<file path=ppt/theme/theme1.xml><?xml version="1.0" encoding="utf-8"?>
<a:theme xmlns:a="http://schemas.openxmlformats.org/drawingml/2006/main" name="WMSU Powerpoint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1141</Words>
  <Application>Microsoft Office PowerPoint</Application>
  <PresentationFormat>On-screen Show (4:3)</PresentationFormat>
  <Paragraphs>91</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Segoe UI Historic</vt:lpstr>
      <vt:lpstr>Tahoma</vt:lpstr>
      <vt:lpstr>Times New Roman</vt:lpstr>
      <vt:lpstr>WMSU Powerpoint Template</vt:lpstr>
      <vt:lpstr>VisionPool: A Real-Time Pool Rule Compliance Monitoring System Using Object Detection and Automated Flagging for Administrative Oversight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PROPOSAL</dc:title>
  <dc:creator>cprc</dc:creator>
  <cp:lastModifiedBy>Luisa Solis</cp:lastModifiedBy>
  <cp:revision>4</cp:revision>
  <dcterms:created xsi:type="dcterms:W3CDTF">2018-02-06T06:26:23Z</dcterms:created>
  <dcterms:modified xsi:type="dcterms:W3CDTF">2026-07-09T04:37:08Z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7a324494e9af4370aa6c21882573070e_23</vt:lpwstr>
  </property>
</Properties>
</file>