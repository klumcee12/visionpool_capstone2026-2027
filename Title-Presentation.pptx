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327" r:id="rId3"/>
    <p:sldId id="324" r:id="rId4"/>
    <p:sldId id="332" r:id="rId5"/>
    <p:sldId id="333" r:id="rId6"/>
    <p:sldId id="278" r:id="rId7"/>
  </p:sldIdLst>
  <p:sldSz cx="9144000" cy="6858000" type="screen4x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57">
          <p15:clr>
            <a:srgbClr val="A4A3A4"/>
          </p15:clr>
        </p15:guide>
        <p15:guide id="4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1313"/>
    <a:srgbClr val="00153E"/>
    <a:srgbClr val="001746"/>
    <a:srgbClr val="E6E6E6"/>
    <a:srgbClr val="E11919"/>
    <a:srgbClr val="BB1515"/>
    <a:srgbClr val="9A1212"/>
    <a:srgbClr val="680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3" autoAdjust="0"/>
    <p:restoredTop sz="78662" autoAdjust="0"/>
  </p:normalViewPr>
  <p:slideViewPr>
    <p:cSldViewPr>
      <p:cViewPr varScale="1">
        <p:scale>
          <a:sx n="89" d="100"/>
          <a:sy n="89" d="100"/>
        </p:scale>
        <p:origin x="13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862" y="-84"/>
      </p:cViewPr>
      <p:guideLst>
        <p:guide orient="horz" pos="2880"/>
        <p:guide pos="2160"/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32D2AFE-5C15-436C-A40A-48093E48932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B37EEC9D-D0FA-4D11-AF25-23D79C15D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8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B1DAAD23-1DAD-4E16-B55A-656B2E66AA0B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4850"/>
            <a:ext cx="4692650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D4C4563-0677-4C09-9689-D6B99D47D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8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B7D74-80F7-D48F-0E9F-905889AC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CB6761-3F3A-B555-78D2-4A9DA32F06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FD4BA-A3BD-1886-8F6E-913DD145B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23BA9-40E7-106E-5759-E3A2397B5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C4563-0677-4C09-9689-D6B99D47D4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2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C4563-0677-4C09-9689-D6B99D47D4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4C06-D369-9EBE-F079-5CDDF5AA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34343-2428-895D-CF91-98C77A6EE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5B7D2-7019-7D13-DCCC-4889B88B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73578-E3D0-57EB-C3F3-046A5CB7B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C4563-0677-4C09-9689-D6B99D47D4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9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84C06-D369-9EBE-F079-5CDDF5AA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34343-2428-895D-CF91-98C77A6EE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5B7D2-7019-7D13-DCCC-4889B88B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73578-E3D0-57EB-C3F3-046A5CB7B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C4563-0677-4C09-9689-D6B99D47D4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34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 userDrawn="1"/>
        </p:nvSpPr>
        <p:spPr>
          <a:xfrm>
            <a:off x="2590800" y="0"/>
            <a:ext cx="436463" cy="6858000"/>
          </a:xfrm>
          <a:prstGeom prst="rect">
            <a:avLst/>
          </a:prstGeom>
          <a:solidFill>
            <a:srgbClr val="9A12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 userDrawn="1"/>
        </p:nvSpPr>
        <p:spPr>
          <a:xfrm>
            <a:off x="2382937" y="0"/>
            <a:ext cx="436463" cy="6858000"/>
          </a:xfrm>
          <a:prstGeom prst="rect">
            <a:avLst/>
          </a:prstGeom>
          <a:solidFill>
            <a:srgbClr val="A9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2611537" cy="6858000"/>
          </a:xfrm>
          <a:prstGeom prst="rect">
            <a:avLst/>
          </a:prstGeom>
          <a:solidFill>
            <a:srgbClr val="BB15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00" r="27963"/>
          <a:stretch/>
        </p:blipFill>
        <p:spPr bwMode="auto">
          <a:xfrm>
            <a:off x="0" y="238387"/>
            <a:ext cx="3027263" cy="635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29000" y="381000"/>
            <a:ext cx="5486400" cy="3886199"/>
          </a:xfrm>
        </p:spPr>
        <p:txBody>
          <a:bodyPr anchor="b">
            <a:noAutofit/>
          </a:bodyPr>
          <a:lstStyle>
            <a:lvl1pPr algn="l">
              <a:defRPr sz="6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alt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4419600"/>
            <a:ext cx="5486400" cy="1600200"/>
          </a:xfrm>
        </p:spPr>
        <p:txBody>
          <a:bodyPr/>
          <a:lstStyle>
            <a:lvl1pPr marL="0" indent="0" algn="l">
              <a:buNone/>
              <a:defRPr>
                <a:solidFill>
                  <a:srgbClr val="680C0C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C5775-14F7-4B67-BEFF-CDF15033A76A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126221" y="4334470"/>
            <a:ext cx="3189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Tahoma" pitchFamily="34" charset="0"/>
                <a:cs typeface="Arial" pitchFamily="34" charset="0"/>
              </a:rPr>
              <a:t>WMSU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9067800" y="0"/>
            <a:ext cx="152400" cy="6858000"/>
          </a:xfrm>
          <a:prstGeom prst="rect">
            <a:avLst/>
          </a:prstGeom>
          <a:gradFill>
            <a:gsLst>
              <a:gs pos="55395">
                <a:srgbClr val="DA1818"/>
              </a:gs>
              <a:gs pos="53000">
                <a:srgbClr val="BB1515"/>
              </a:gs>
              <a:gs pos="45000">
                <a:srgbClr val="E1191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325537" y="4419600"/>
            <a:ext cx="2286000" cy="0"/>
          </a:xfrm>
          <a:prstGeom prst="line">
            <a:avLst/>
          </a:prstGeom>
          <a:ln w="25400">
            <a:solidFill>
              <a:schemeClr val="bg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42" y="1837667"/>
            <a:ext cx="2316426" cy="23164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55638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Tahoma" pitchFamily="34" charset="0"/>
                <a:cs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481CA-F601-416F-94B0-839D33299AAF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763461"/>
            <a:ext cx="9144000" cy="6827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743200"/>
          </a:xfrm>
        </p:spPr>
        <p:txBody>
          <a:bodyPr anchor="b">
            <a:noAutofit/>
          </a:bodyPr>
          <a:lstStyle>
            <a:lvl1pPr algn="l">
              <a:defRPr sz="6000" b="1" cap="all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419600"/>
            <a:ext cx="7772400" cy="1600199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578F6-7A2E-4965-9EF1-A8BE0E94DFBD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139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6400"/>
            <a:ext cx="4038600" cy="444976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038600" cy="4449763"/>
          </a:xfrm>
        </p:spPr>
        <p:txBody>
          <a:bodyPr/>
          <a:lstStyle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E61E-FB4D-41FA-894D-F50A40F5E8D3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55638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4040188" cy="762000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76863"/>
            <a:ext cx="4040188" cy="3549299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456" y="1676400"/>
            <a:ext cx="4041775" cy="762000"/>
          </a:xfr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76863"/>
            <a:ext cx="4041775" cy="3549299"/>
          </a:xfrm>
        </p:spPr>
        <p:txBody>
          <a:bodyPr/>
          <a:lstStyle>
            <a:lvl1pPr>
              <a:defRPr sz="2400">
                <a:latin typeface="Arial" pitchFamily="34" charset="0"/>
                <a:cs typeface="Arial" pitchFamily="34" charset="0"/>
              </a:defRPr>
            </a:lvl1pPr>
            <a:lvl2pPr>
              <a:defRPr sz="2000">
                <a:latin typeface="Arial" pitchFamily="34" charset="0"/>
                <a:cs typeface="Arial" pitchFamily="34" charset="0"/>
              </a:defRPr>
            </a:lvl2pPr>
            <a:lvl3pPr>
              <a:defRPr sz="1800">
                <a:latin typeface="Arial" pitchFamily="34" charset="0"/>
                <a:cs typeface="Arial" pitchFamily="34" charset="0"/>
              </a:defRPr>
            </a:lvl3pPr>
            <a:lvl4pPr>
              <a:defRPr sz="1600">
                <a:latin typeface="Arial" pitchFamily="34" charset="0"/>
                <a:cs typeface="Arial" pitchFamily="34" charset="0"/>
              </a:defRPr>
            </a:lvl4pPr>
            <a:lvl5pPr>
              <a:defRPr sz="1600">
                <a:latin typeface="Arial" pitchFamily="34" charset="0"/>
                <a:cs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99B0-AC12-43A0-BF37-08DAF64E0A6D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55638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187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rmAutofit/>
          </a:bodyPr>
          <a:lstStyle>
            <a:lvl1pPr>
              <a:defRPr sz="4200" b="1">
                <a:solidFill>
                  <a:schemeClr val="tx1">
                    <a:lumMod val="75000"/>
                    <a:lumOff val="2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FA499-4AF1-4DEF-BFF1-372D652F227E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3008313" cy="9906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838200"/>
            <a:ext cx="5111750" cy="5287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28800"/>
            <a:ext cx="3008313" cy="42973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4BAE-5292-466A-97C7-A0FBF91EB181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38199"/>
            <a:ext cx="5486400" cy="3889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BEA0-B554-4DDA-926D-E6FF274AC015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27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B068-1D8C-49D7-B19D-5D39AD9068F3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7F44D-9351-4BB7-BF74-3B58C5D970E7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5" r:id="rId9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ahoma" pitchFamily="34" charset="0"/>
          <a:ea typeface="Tahoma" pitchFamily="34" charset="0"/>
          <a:cs typeface="Tahom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090DAD5A-FE8A-4704-8005-AD27E4871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0" y="914400"/>
            <a:ext cx="5486400" cy="4800600"/>
          </a:xfrm>
        </p:spPr>
        <p:txBody>
          <a:bodyPr/>
          <a:lstStyle/>
          <a:p>
            <a:r>
              <a:rPr lang="en-US" sz="4800" dirty="0"/>
              <a:t>LASINTECH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MFCC-Based Speech Analysis Mobile Application for Real-Time Intoxication Level Classification</a:t>
            </a:r>
            <a:endParaRPr lang="en-US" sz="4800" i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26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78B6-AF52-4376-AC19-882B78E2C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54B345-322F-BD07-89B3-02E4A2D3187E}"/>
              </a:ext>
            </a:extLst>
          </p:cNvPr>
          <p:cNvSpPr txBox="1"/>
          <p:nvPr/>
        </p:nvSpPr>
        <p:spPr>
          <a:xfrm>
            <a:off x="0" y="152400"/>
            <a:ext cx="9144000" cy="849421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Research Proposal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276FC-1B51-1775-CA69-3E39B6B8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733B7A-4420-A918-9817-50FCD2EBF8F9}"/>
              </a:ext>
            </a:extLst>
          </p:cNvPr>
          <p:cNvSpPr txBox="1"/>
          <p:nvPr/>
        </p:nvSpPr>
        <p:spPr>
          <a:xfrm>
            <a:off x="76200" y="1219200"/>
            <a:ext cx="8991600" cy="664755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en-US" sz="2400" b="1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66068-A1E9-B160-1F74-D9F59E250867}"/>
              </a:ext>
            </a:extLst>
          </p:cNvPr>
          <p:cNvSpPr txBox="1"/>
          <p:nvPr/>
        </p:nvSpPr>
        <p:spPr>
          <a:xfrm>
            <a:off x="76200" y="1219200"/>
            <a:ext cx="8991600" cy="3373189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pPr algn="just">
              <a:buNone/>
            </a:pPr>
            <a:r>
              <a:rPr lang="en-US" sz="2000" b="1" dirty="0"/>
              <a:t>Statement of the Problem 1.</a:t>
            </a:r>
          </a:p>
          <a:p>
            <a:pPr algn="just">
              <a:buNone/>
            </a:pP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sz="2000" dirty="0"/>
              <a:t>Alcohol intoxication is a major public safety concern contributing to road accidents, workplace injuries, and preventable deaths — particularly in the Philippines where the LTO and PNP consistently cite alcohol as a primary factor in road crash fatalities.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sz="2000" dirty="0"/>
              <a:t>The core issue is the </a:t>
            </a:r>
            <a:r>
              <a:rPr lang="en-US" sz="2000" b="1" dirty="0"/>
              <a:t>gap between actual and perceived sobriety.</a:t>
            </a:r>
            <a:r>
              <a:rPr lang="en-US" sz="2000" dirty="0"/>
              <a:t> Intoxication impairs the very cognitive faculties needed to recognize one's own compromised state, making self-assessment unreliable.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4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79FB87-C3FD-4590-8402-A5EE773EFD88}"/>
              </a:ext>
            </a:extLst>
          </p:cNvPr>
          <p:cNvSpPr txBox="1"/>
          <p:nvPr/>
        </p:nvSpPr>
        <p:spPr>
          <a:xfrm>
            <a:off x="0" y="152400"/>
            <a:ext cx="9144000" cy="849421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Research Proposal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90CF7-3ECA-4E74-B64E-BD47FC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FCA96-6D6B-4C89-832F-7168D9646F99}"/>
              </a:ext>
            </a:extLst>
          </p:cNvPr>
          <p:cNvSpPr txBox="1"/>
          <p:nvPr/>
        </p:nvSpPr>
        <p:spPr>
          <a:xfrm>
            <a:off x="76200" y="1219200"/>
            <a:ext cx="8991600" cy="664755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en-US" sz="2400" b="1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2F1295-47DC-43F7-B0CE-C208EF71CD42}"/>
              </a:ext>
            </a:extLst>
          </p:cNvPr>
          <p:cNvSpPr txBox="1"/>
          <p:nvPr/>
        </p:nvSpPr>
        <p:spPr>
          <a:xfrm>
            <a:off x="76200" y="1219200"/>
            <a:ext cx="8991600" cy="5404514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pPr algn="just">
              <a:buNone/>
            </a:pPr>
            <a:r>
              <a:rPr lang="en-US" sz="2000" b="1" dirty="0"/>
              <a:t>Description 1.</a:t>
            </a:r>
          </a:p>
          <a:p>
            <a:pPr algn="just">
              <a:buNone/>
            </a:pP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sz="2000" dirty="0"/>
              <a:t>A </a:t>
            </a:r>
            <a:r>
              <a:rPr lang="en-US" sz="2000" b="1" dirty="0"/>
              <a:t>staff-facing mobile application</a:t>
            </a:r>
            <a:r>
              <a:rPr lang="en-US" sz="2000" dirty="0"/>
              <a:t> that captures a short audio recording of a subject's speech and automatically classifies their intoxication level in real time — no hardware, no physical contact, no internet connection required.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000" dirty="0">
                <a:cs typeface="Arial" panose="020B0604020202020204" pitchFamily="34" charset="0"/>
              </a:rPr>
              <a:t>The app outputs one of four classification levels: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Sober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Mildly Impaired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Moderately Impaired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Severely Impaired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cs typeface="Arial" panose="020B0604020202020204" pitchFamily="34" charset="0"/>
            </a:endParaRPr>
          </a:p>
          <a:p>
            <a:r>
              <a:rPr lang="en-US" sz="2000" b="1" dirty="0">
                <a:cs typeface="Arial" panose="020B0604020202020204" pitchFamily="34" charset="0"/>
              </a:rPr>
              <a:t>Objective</a:t>
            </a:r>
          </a:p>
          <a:p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To develop an MFCC-Based Speech Analysis Mobile Application capable of classifying intoxication levels in real time through acoustic feature extraction and machine learning classification, and to evaluate its performance and usability as a staff-facing decision-support tool.</a:t>
            </a:r>
            <a:endParaRPr lang="en-US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61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54E9-3EAC-F0B8-8F46-1F521990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1379F2-FF19-43A6-3F85-31409FE57425}"/>
              </a:ext>
            </a:extLst>
          </p:cNvPr>
          <p:cNvSpPr txBox="1"/>
          <p:nvPr/>
        </p:nvSpPr>
        <p:spPr>
          <a:xfrm>
            <a:off x="0" y="152400"/>
            <a:ext cx="9144000" cy="849421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Research Proposal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12FEF-AEE6-E43D-DA8A-F800D9CD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7989D-5033-B9AE-0B1A-A51BA23BBF0E}"/>
              </a:ext>
            </a:extLst>
          </p:cNvPr>
          <p:cNvSpPr txBox="1"/>
          <p:nvPr/>
        </p:nvSpPr>
        <p:spPr>
          <a:xfrm>
            <a:off x="76200" y="1219200"/>
            <a:ext cx="8991600" cy="664755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en-US" sz="2400" b="1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B29FE-894C-0FE9-1B96-E4C651A90B73}"/>
              </a:ext>
            </a:extLst>
          </p:cNvPr>
          <p:cNvSpPr txBox="1"/>
          <p:nvPr/>
        </p:nvSpPr>
        <p:spPr>
          <a:xfrm>
            <a:off x="76200" y="1219200"/>
            <a:ext cx="8991600" cy="603200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pPr algn="just">
              <a:buNone/>
            </a:pPr>
            <a:r>
              <a:rPr lang="en-US" sz="2000" b="1" dirty="0"/>
              <a:t>The technologies, tools, algorithms, models, or methodologies to be used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E6A9107-B2EA-D92B-FD53-907635E41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716754"/>
              </p:ext>
            </p:extLst>
          </p:nvPr>
        </p:nvGraphicFramePr>
        <p:xfrm>
          <a:off x="1524000" y="1828576"/>
          <a:ext cx="6096000" cy="424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216207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6509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Category</a:t>
                      </a:r>
                      <a:endParaRPr lang="en-PH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Details</a:t>
                      </a:r>
                      <a:endParaRPr lang="en-PH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0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Mobile Framework 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 Native with Expo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2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Audio Capture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dirty="0"/>
                        <a:t>Expo Audio / React Native Audio Recorder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9207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 Extraction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Python, </a:t>
                      </a:r>
                      <a:r>
                        <a:rPr lang="en-US" dirty="0" err="1"/>
                        <a:t>Librosa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97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Acoustic Feature 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MFCC, pitch, speech rate, pause frequency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56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ML Framework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TensorFlow/</a:t>
                      </a:r>
                      <a:r>
                        <a:rPr lang="en-US" dirty="0" err="1"/>
                        <a:t>Keras</a:t>
                      </a:r>
                      <a:r>
                        <a:rPr lang="en-US" dirty="0"/>
                        <a:t>, Scikit-learn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369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</a:t>
                      </a:r>
                      <a:endParaRPr lang="en-P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80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Version Control 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37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 Environment 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Visual Studio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620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  <a:endParaRPr lang="en-P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Firebase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594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04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54E9-3EAC-F0B8-8F46-1F521990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1379F2-FF19-43A6-3F85-31409FE57425}"/>
              </a:ext>
            </a:extLst>
          </p:cNvPr>
          <p:cNvSpPr txBox="1"/>
          <p:nvPr/>
        </p:nvSpPr>
        <p:spPr>
          <a:xfrm>
            <a:off x="0" y="152400"/>
            <a:ext cx="9144000" cy="849421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50800" dist="38100" algn="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Research Proposal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12FEF-AEE6-E43D-DA8A-F800D9CD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7989D-5033-B9AE-0B1A-A51BA23BBF0E}"/>
              </a:ext>
            </a:extLst>
          </p:cNvPr>
          <p:cNvSpPr txBox="1"/>
          <p:nvPr/>
        </p:nvSpPr>
        <p:spPr>
          <a:xfrm>
            <a:off x="76200" y="1219200"/>
            <a:ext cx="8991600" cy="664755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	</a:t>
            </a:r>
            <a:endParaRPr lang="en-US" sz="2400" b="1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9B29FE-894C-0FE9-1B96-E4C651A90B73}"/>
              </a:ext>
            </a:extLst>
          </p:cNvPr>
          <p:cNvSpPr txBox="1"/>
          <p:nvPr/>
        </p:nvSpPr>
        <p:spPr>
          <a:xfrm>
            <a:off x="76200" y="1219200"/>
            <a:ext cx="8991600" cy="3988742"/>
          </a:xfrm>
          <a:prstGeom prst="rect">
            <a:avLst/>
          </a:prstGeom>
          <a:noFill/>
        </p:spPr>
        <p:txBody>
          <a:bodyPr wrap="square" lIns="182854" tIns="146283" rIns="182854" bIns="146283" rtlCol="0">
            <a:spAutoFit/>
          </a:bodyPr>
          <a:lstStyle/>
          <a:p>
            <a:pPr>
              <a:buNone/>
            </a:pPr>
            <a:r>
              <a:rPr lang="en-US" sz="2000" b="1" dirty="0"/>
              <a:t>Expected Outputs: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dirty="0"/>
              <a:t>•A fully functional MFCC-Based Speech Analysis Mobile Application deployable on Android and iOS platforms for real-time intoxication level classification.</a:t>
            </a:r>
          </a:p>
          <a:p>
            <a:pPr>
              <a:buNone/>
            </a:pPr>
            <a:r>
              <a:rPr lang="en-US" sz="2000" dirty="0"/>
              <a:t>•A trained and evaluated machine learning model converted to TensorFlow Lite format for on-device inference.</a:t>
            </a:r>
          </a:p>
          <a:p>
            <a:pPr>
              <a:buNone/>
            </a:pPr>
            <a:r>
              <a:rPr lang="en-US" sz="2000" dirty="0"/>
              <a:t>•A labeled audio speech dataset of intoxication samples that may serve as a foundation for future research.</a:t>
            </a:r>
          </a:p>
          <a:p>
            <a:pPr>
              <a:buNone/>
            </a:pPr>
            <a:r>
              <a:rPr lang="en-US" sz="2000"/>
              <a:t>•A </a:t>
            </a:r>
            <a:r>
              <a:rPr lang="en-US" sz="2000" dirty="0"/>
              <a:t>research paper documenting the methodology, model performance, and system evaluation findings, suitable for publication in an academic journal or conference proceedings.</a:t>
            </a:r>
          </a:p>
          <a:p>
            <a:pPr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0918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A65727-C1D9-41F4-BC40-D5925210D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D3EAB-EA5E-4909-9441-36F6A2DDC84B}"/>
              </a:ext>
            </a:extLst>
          </p:cNvPr>
          <p:cNvSpPr/>
          <p:nvPr/>
        </p:nvSpPr>
        <p:spPr>
          <a:xfrm>
            <a:off x="2819400" y="0"/>
            <a:ext cx="6324600" cy="6858000"/>
          </a:xfrm>
          <a:prstGeom prst="rect">
            <a:avLst/>
          </a:prstGeom>
          <a:solidFill>
            <a:srgbClr val="A9131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3233" tIns="46618" rIns="93233" bIns="46618" numCol="1" rtlCol="0" anchor="ctr" anchorCtr="0" compatLnSpc="1">
            <a:prstTxWarp prst="textNoShape">
              <a:avLst/>
            </a:prstTxWarp>
          </a:bodyPr>
          <a:lstStyle/>
          <a:p>
            <a:pPr algn="ctr" defTabSz="932066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 by:</a:t>
            </a:r>
          </a:p>
          <a:p>
            <a:pPr algn="ctr" defTabSz="932066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Solis, Luisa Mae 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6E71A-0569-3166-7A7A-9976568F2F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400300"/>
            <a:ext cx="2057400" cy="2057400"/>
          </a:xfrm>
          <a:prstGeom prst="rect">
            <a:avLst/>
          </a:prstGeom>
          <a:noFill/>
          <a:effectLst>
            <a:glow rad="127000">
              <a:schemeClr val="bg1"/>
            </a:glow>
            <a:outerShdw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40630372"/>
      </p:ext>
    </p:extLst>
  </p:cSld>
  <p:clrMapOvr>
    <a:masterClrMapping/>
  </p:clrMapOvr>
</p:sld>
</file>

<file path=ppt/theme/theme1.xml><?xml version="1.0" encoding="utf-8"?>
<a:theme xmlns:a="http://schemas.openxmlformats.org/drawingml/2006/main" name="WMSU Powerpoint Templat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.potx" id="{96DE15C5-AE08-4521-B67D-24D67A1B8D7A}" vid="{CC471F7D-36DC-4E5E-A9D0-796E66089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WMSU Powerpoint Template</Template>
  <TotalTime>3385</TotalTime>
  <Words>367</Words>
  <Application>Microsoft Office PowerPoint</Application>
  <PresentationFormat>On-screen Show (4:3)</PresentationFormat>
  <Paragraphs>66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Tahoma</vt:lpstr>
      <vt:lpstr>Times New Roman</vt:lpstr>
      <vt:lpstr>WMSU Powerpoint Template</vt:lpstr>
      <vt:lpstr>LASINTECH:MFCC-Based Speech Analysis Mobile Application for Real-Time Intoxication Level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PROPOSAL</dc:title>
  <dc:creator>cprc</dc:creator>
  <cp:lastModifiedBy>Luisa Solis</cp:lastModifiedBy>
  <cp:revision>280</cp:revision>
  <cp:lastPrinted>2018-05-04T01:38:22Z</cp:lastPrinted>
  <dcterms:created xsi:type="dcterms:W3CDTF">2018-02-06T22:26:23Z</dcterms:created>
  <dcterms:modified xsi:type="dcterms:W3CDTF">2026-06-10T12:00:36Z</dcterms:modified>
</cp:coreProperties>
</file>